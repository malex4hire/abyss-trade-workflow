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18f6ae4c7b44ea" /><Relationship Type="http://schemas.openxmlformats.org/officeDocument/2006/relationships/extended-properties" Target="/docProps/app.xml" Id="R07c13e7a88c145a0" /><Relationship Type="http://schemas.openxmlformats.org/officeDocument/2006/relationships/officeDocument" Target="/ppt/presentation.xml" Id="R3dc818811c604c8e" /></Relationships>
</file>

<file path=ppt/presentation.xml><?xml version="1.0" encoding="utf-8"?>
<p:presentation xmlns:p="http://schemas.openxmlformats.org/presentationml/2006/main">
  <p:sldMasterIdLst>
    <p:sldMasterId xmlns:r="http://schemas.openxmlformats.org/officeDocument/2006/relationships" id="2147483648" r:id="R8548cd47775946fc"/>
  </p:sldMasterIdLst>
  <p:notesMasterIdLst>
    <p:notesMasterId xmlns:r="http://schemas.openxmlformats.org/officeDocument/2006/relationships" r:id="R999f400efb42442a"/>
  </p:notesMasterIdLst>
  <p:sldIdLst>
    <p:sldId xmlns:r="http://schemas.openxmlformats.org/officeDocument/2006/relationships" id="256" r:id="Rbcbbf8bf89b043cb"/>
    <p:sldId xmlns:r="http://schemas.openxmlformats.org/officeDocument/2006/relationships" id="257" r:id="R4294099472cf4d8c"/>
    <p:sldId xmlns:r="http://schemas.openxmlformats.org/officeDocument/2006/relationships" id="258" r:id="R346511f88faf4e32"/>
    <p:sldId xmlns:r="http://schemas.openxmlformats.org/officeDocument/2006/relationships" id="259" r:id="R1cbff89580864597"/>
    <p:sldId xmlns:r="http://schemas.openxmlformats.org/officeDocument/2006/relationships" id="260" r:id="R65bcb8a4c71a4e8b"/>
    <p:sldId xmlns:r="http://schemas.openxmlformats.org/officeDocument/2006/relationships" id="261" r:id="Rcc16b24df16c40e8"/>
    <p:sldId xmlns:r="http://schemas.openxmlformats.org/officeDocument/2006/relationships" id="262" r:id="R2723f920efc646c0"/>
    <p:sldId xmlns:r="http://schemas.openxmlformats.org/officeDocument/2006/relationships" id="263" r:id="Rae1a7a322c5045dc"/>
    <p:sldId xmlns:r="http://schemas.openxmlformats.org/officeDocument/2006/relationships" id="264" r:id="R7349812d93174a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d6ecbb3c6c49f8" /><Relationship Type="http://schemas.openxmlformats.org/officeDocument/2006/relationships/slideMaster" Target="/ppt/slideMasters/slideMaster1.xml" Id="R8548cd47775946fc" /><Relationship Type="http://schemas.openxmlformats.org/officeDocument/2006/relationships/notesMaster" Target="/ppt/notesMasters/notesMaster1.xml" Id="R999f400efb42442a" /><Relationship Type="http://schemas.openxmlformats.org/officeDocument/2006/relationships/presProps" Target="/ppt/presProps.xml" Id="R93e070f5f9c3480b" /><Relationship Type="http://schemas.openxmlformats.org/officeDocument/2006/relationships/tableStyles" Target="/ppt/tableStyles.xml" Id="Rb53240c5c4b3471c" /><Relationship Type="http://schemas.openxmlformats.org/officeDocument/2006/relationships/slide" Target="/ppt/slides/slide1.xml" Id="Rbcbbf8bf89b043cb" /><Relationship Type="http://schemas.openxmlformats.org/officeDocument/2006/relationships/slide" Target="/ppt/slides/slide2.xml" Id="R4294099472cf4d8c" /><Relationship Type="http://schemas.openxmlformats.org/officeDocument/2006/relationships/slide" Target="/ppt/slides/slide3.xml" Id="R346511f88faf4e32" /><Relationship Type="http://schemas.openxmlformats.org/officeDocument/2006/relationships/slide" Target="/ppt/slides/slide4.xml" Id="R1cbff89580864597" /><Relationship Type="http://schemas.openxmlformats.org/officeDocument/2006/relationships/slide" Target="/ppt/slides/slide5.xml" Id="R65bcb8a4c71a4e8b" /><Relationship Type="http://schemas.openxmlformats.org/officeDocument/2006/relationships/slide" Target="/ppt/slides/slide6.xml" Id="Rcc16b24df16c40e8" /><Relationship Type="http://schemas.openxmlformats.org/officeDocument/2006/relationships/slide" Target="/ppt/slides/slide7.xml" Id="R2723f920efc646c0" /><Relationship Type="http://schemas.openxmlformats.org/officeDocument/2006/relationships/slide" Target="/ppt/slides/slide8.xml" Id="Rae1a7a322c5045dc" /><Relationship Type="http://schemas.openxmlformats.org/officeDocument/2006/relationships/slide" Target="/ppt/slides/slide9.xml" Id="R7349812d93174a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14443c7d134f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9793dd093f43c7" /><Relationship Type="http://schemas.openxmlformats.org/officeDocument/2006/relationships/notesMaster" Target="/ppt/notesMasters/notesMaster1.xml" Id="R88addae8dd634d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0269d652274bb6" /><Relationship Type="http://schemas.openxmlformats.org/officeDocument/2006/relationships/notesMaster" Target="/ppt/notesMasters/notesMaster1.xml" Id="R32359eaa7d5a4c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f3ccb1739e4332" /><Relationship Type="http://schemas.openxmlformats.org/officeDocument/2006/relationships/notesMaster" Target="/ppt/notesMasters/notesMaster1.xml" Id="R5239d331340c4f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e169f0bfcc412b" /><Relationship Type="http://schemas.openxmlformats.org/officeDocument/2006/relationships/notesMaster" Target="/ppt/notesMasters/notesMaster1.xml" Id="Rd7b219a0c3fd4c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212a6698f24dc7" /><Relationship Type="http://schemas.openxmlformats.org/officeDocument/2006/relationships/notesMaster" Target="/ppt/notesMasters/notesMaster1.xml" Id="R8fae04da84d249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c237b645064227" /><Relationship Type="http://schemas.openxmlformats.org/officeDocument/2006/relationships/notesMaster" Target="/ppt/notesMasters/notesMaster1.xml" Id="R0b816190ca6c41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094cc618e14507" /><Relationship Type="http://schemas.openxmlformats.org/officeDocument/2006/relationships/notesMaster" Target="/ppt/notesMasters/notesMaster1.xml" Id="R62ee9781f7f040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728c9536a54334" /><Relationship Type="http://schemas.openxmlformats.org/officeDocument/2006/relationships/notesMaster" Target="/ppt/notesMasters/notesMaster1.xml" Id="Rb89965e7b1c543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b3079b73eb4c0c" /><Relationship Type="http://schemas.openxmlformats.org/officeDocument/2006/relationships/notesMaster" Target="/ppt/notesMasters/notesMaster1.xml" Id="Re39102469d1c4e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Comparison: the maintainable Go edition retains polling. The standalone Java event edition adds Kafka completion notifications and authenticated SSE. Java 25, Spring MVC and virtual threads remain enabled. Synthetic data and illustrative trade rules. No agency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Both implementations use a transactional submission outbox and duplicate-event processing controls. Java EventProcessingService writes its decision, audit and trade.completed outbox row in one PostgreSQL transaction. OutboxPublisher selects the event topic and waits for Kafka acknowledgment. CompletionListener in each API replica consumes trade.completed. DeclarationSubscription sends owner-scoped SSE invalidations. React refreshes list/detail only on initial load, selection, local mutation, manual refresh or notification. Heartbeats keep the stream alive without snapshot requests. The Go edition retains its polling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Identity scope stays unchanged. A repeated submit for the same declaration ID creates one submission event. Distinct drafts still create distinct declarations even when data matches. Worker deduplication uses the event ID and commits with the decision. Java now adds a completion event in that same transaction. A repeated completion delivery can trigger another snapshot read, but cannot repeat the business decision. Business uniqueness and create-request idempotency remain undefined.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Both codebases separate HTTP handlers/controllers, transaction services, SQL access and messaging. Java uses Spring MVC and blocking JDBC with virtual threads enabled. It adds CompletionEvent, CompletionListener, DeclarationSubscription and SubscriptionController. Flyway V2 adds topic routing to outbox records. PostgreSQL remains authoritative. No WebFlux or structured concurrency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Event distribution strategy: per-replica fan-out using separate Kafka consumer groups. A shared group would deliver each event to only one API replica and miss browser connections on others. Each API instance creates a unique group on process start and consumes retained completion records from earliest. This simplifies the demo but can replay historical notifications and create group churn. Production needs a deliberate replica/group lifecycle and capacity plan. SSE is not a durable per-browser log, and no browser acknowledgment or event-ID replay is implemented. Reconnect reads a current database snapshot. This supports eventual current-state recovery, not a guarantee that a browser sees every intermediate transition. Send fan-out is synchronous and needs bounded queues/backpressure and slow-client handling for a production fleet. No tested user capacity exists. A dedicated notification service is an alternative that this demo does not implement.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The Java event edition supplies direct Java/Spring evidence and Kafka submission plus completion flows. React uses authenticated streaming fetch to /api/events. Native EventSource cannot supply a bearer Authorization header. JMS, generated OpenAPI clients/server artifacts, enterprise portal catalogs, AI test generation and a live Kubernetes deployment remain outside this demo. The requisition supplied in the conversation does not specify a Java version. Java 25 is the user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Java aligns with the client stack. Go remains a maintainable comparison. No controlled benchmark establishes a performance winner. Virtual threads support blocking request execution while SSE changes browser status delivery. React and virtual threads operate at different layers. Throughput, connected-user capacity, memory and recovery behavior need measured workload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Java event edition: 15 backend tests passed, including authenticated subscription access from the portal origin, completion routing and completion-outbox invocation. The real HTTP test confirms MVC virtual-thread execution. Sixteen frontend tests passed, including split SSE frames, heartbeat handling, invalid-credential behavior, no idle refreshes and one subscription across selection changes. Java packaging and frontend lint/build passed. These unit and HTTP tests do not verify real Kafka delivery, SQL concurrency or full end-to-end behavior. Docker was unavailable. Database integration, live broker recovery and Kubernetes operation remain pending. Go baseline evidence remains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user-supplied requisition and the maintainable Go source package. Java event edition: trade-demo-java-events source, README, Compose configuration and tests. Verification reflects checks completed in this conversation, not a production benchmark. Standalone Java archive has project files at ZIP root. Extract into a new trade-demo-java-events directory. Compose project abyss-trade-java-events uses separate images and PostgreSQL/Kafka volumes. Stop the old demo to avoid shared host-port conflicts. ./demo generates its own .env token. Portal 13000, API 18080 and docs 18081. In browser Network, /api/events stays open and heartbeats do not trigger list/detail reads. Submit a draft and check completion causes a snapshot refresh. Stop/restart the worker to verify recovery on a Docker host. Client discovery must establish duplicate rules, amendments, identity and access scope, notification replay requirements and expected 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34c11504f74d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3e2f70663541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9180e3487a49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ab2348311947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88d4d3ba6448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235d719c5d42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DFB6C-A6FD-439F-B08D-95F018C4D2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A68BB5-6FAA-4B7F-BF5B-6C6EA0B094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062A16-9E02-4557-8BB4-7C097D42B7B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701C2D-4A4B-49C0-84D6-E3FB320686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CAB5CF-933C-432B-8E56-7D954ED67D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DC6A70-F0A6-46D1-971A-C7F6007271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038D64-1F59-4918-A619-60B3D1530C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A32524-8C21-4E10-B0C2-D177AD6E68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4B29BC-28D3-439A-B18B-492C645B58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F35377-C5D6-41D0-BB4B-4D24A3A2CE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cfd7253cb14fb6" /><Relationship Type="http://schemas.openxmlformats.org/officeDocument/2006/relationships/slideLayout" Target="/ppt/slideLayouts/slideLayout1.xml" Id="Rd8b081ca8e704c4b" /><Relationship Type="http://schemas.openxmlformats.org/officeDocument/2006/relationships/slideLayout" Target="/ppt/slideLayouts/slideLayout2.xml" Id="Rd24cefb8634149c8" /><Relationship Type="http://schemas.openxmlformats.org/officeDocument/2006/relationships/slideLayout" Target="/ppt/slideLayouts/slideLayout3.xml" Id="R249a8129983b4045" /><Relationship Type="http://schemas.openxmlformats.org/officeDocument/2006/relationships/slideLayout" Target="/ppt/slideLayouts/slideLayout4.xml" Id="Rce02ecd2ff1e45d6" /><Relationship Type="http://schemas.openxmlformats.org/officeDocument/2006/relationships/slideLayout" Target="/ppt/slideLayouts/slideLayout5.xml" Id="R68eadb09a21141bd" /><Relationship Type="http://schemas.openxmlformats.org/officeDocument/2006/relationships/slideLayout" Target="/ppt/slideLayouts/slideLayout6.xml" Id="R864c2278be644f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b081ca8e704c4b"/>
    <p:sldLayoutId xmlns:r="http://schemas.openxmlformats.org/officeDocument/2006/relationships" id="2147483650" r:id="Rd24cefb8634149c8"/>
    <p:sldLayoutId xmlns:r="http://schemas.openxmlformats.org/officeDocument/2006/relationships" id="2147483651" r:id="R249a8129983b4045"/>
    <p:sldLayoutId xmlns:r="http://schemas.openxmlformats.org/officeDocument/2006/relationships" id="2147483652" r:id="Rce02ecd2ff1e45d6"/>
    <p:sldLayoutId xmlns:r="http://schemas.openxmlformats.org/officeDocument/2006/relationships" id="2147483653" r:id="R68eadb09a21141bd"/>
    <p:sldLayoutId xmlns:r="http://schemas.openxmlformats.org/officeDocument/2006/relationships" id="2147483654" r:id="R864c2278be644f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2e5ccd90ed4ed6" /><Relationship Type="http://schemas.openxmlformats.org/officeDocument/2006/relationships/notesSlide" Target="/ppt/notesSlides/notesSlide1.xml" Id="Rdecf90aefcfd41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73125de2fe4185" /><Relationship Type="http://schemas.openxmlformats.org/officeDocument/2006/relationships/notesSlide" Target="/ppt/notesSlides/notesSlide2.xml" Id="Re64218047cdd4b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33ef517d0c4dfc" /><Relationship Type="http://schemas.openxmlformats.org/officeDocument/2006/relationships/notesSlide" Target="/ppt/notesSlides/notesSlide3.xml" Id="Rda5247723f994b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06b333997cf4293" /><Relationship Type="http://schemas.openxmlformats.org/officeDocument/2006/relationships/notesSlide" Target="/ppt/notesSlides/notesSlide4.xml" Id="Re3c3169ce2554b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813ea1f7b447f9" /><Relationship Type="http://schemas.openxmlformats.org/officeDocument/2006/relationships/notesSlide" Target="/ppt/notesSlides/notesSlide5.xml" Id="Rb04c56b08c2842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d4b94966624c0e" /><Relationship Type="http://schemas.openxmlformats.org/officeDocument/2006/relationships/notesSlide" Target="/ppt/notesSlides/notesSlide6.xml" Id="R4cbaf39adde843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3ca237344a04150" /><Relationship Type="http://schemas.openxmlformats.org/officeDocument/2006/relationships/notesSlide" Target="/ppt/notesSlides/notesSlide7.xml" Id="R7dfe4b340d4b40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cd7d22df91f4e6f" /><Relationship Type="http://schemas.openxmlformats.org/officeDocument/2006/relationships/notesSlide" Target="/ppt/notesSlides/notesSlide8.xml" Id="Raddd7eb47fb04e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96384f90b304e31" /><Relationship Type="http://schemas.openxmlformats.org/officeDocument/2006/relationships/notesSlide" Target="/ppt/notesSlides/notesSlide9.xml" Id="R9698ae7f6aca462e"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AE5D10-E91B-4B31-BBF5-902A347C0DBC}"/>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Trade portal implementation briefing</a:t>
            </a:r>
          </a:p>
        </p:txBody>
      </p:sp>
      <p:sp>
        <p:nvSpPr>
          <p:cNvPr id="2" name="">
            <a:extLst xmlns:a="http://schemas.openxmlformats.org/drawingml/2006/main">
              <a:ext uri="{FF2B5EF4-FFF2-40B4-BE49-F238E27FC236}">
                <a16:creationId xmlns:a16="http://schemas.microsoft.com/office/drawing/2014/main" id="{BCF9C072-869E-4232-9F75-12A0D5A03A12}"/>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B1255048-A78D-4F16-AF7D-DD63C8E3A64F}"/>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1</a:t>
            </a:r>
          </a:p>
        </p:txBody>
      </p:sp>
      <p:sp>
        <p:nvSpPr>
          <p:cNvPr id="4" name="">
            <a:extLst xmlns:a="http://schemas.openxmlformats.org/drawingml/2006/main">
              <a:ext uri="{FF2B5EF4-FFF2-40B4-BE49-F238E27FC236}">
                <a16:creationId xmlns:a16="http://schemas.microsoft.com/office/drawing/2014/main" id="{547865ED-103D-4AC2-8FD9-2CB1B841406B}"/>
              </a:ext>
            </a:extLst>
          </p:cNvPr>
          <p:cNvSpPr>
            <a:spLocks xmlns:a="http://schemas.openxmlformats.org/drawingml/2006/main" noGrp="1"/>
          </p:cNvSpPr>
          <p:nvPr/>
        </p:nvSpPr>
        <p:spPr>
          <a:xfrm xmlns:a="http://schemas.openxmlformats.org/drawingml/2006/main">
            <a:off x="609600" y="20002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12B3A"/>
                </a:solidFill>
                <a:latin typeface="DejaVu Sans"/>
                <a:ea typeface="DejaVu Sans"/>
                <a:cs typeface="DejaVu Sans"/>
              </a:defRPr>
            </a:defPPr>
          </a:lstStyle>
          <a:p xmlns:a="http://schemas.openxmlformats.org/drawingml/2006/main">
            <a:pPr>
              <a:buNone/>
              <a:defRPr sz="4800" b="1">
                <a:solidFill>
                  <a:srgbClr val="112B3A"/>
                </a:solidFill>
                <a:latin typeface="DejaVu Sans"/>
                <a:ea typeface="DejaVu Sans"/>
                <a:cs typeface="DejaVu Sans"/>
              </a:defRPr>
            </a:pPr>
            <a:r>
              <a:rPr sz="4800" b="1">
                <a:solidFill>
                  <a:srgbClr val="112B3A"/>
                </a:solidFill>
                <a:latin typeface="DejaVu Sans"/>
                <a:ea typeface="DejaVu Sans"/>
                <a:cs typeface="DejaVu Sans"/>
              </a:rPr>
              <a:t>Go and Java 25</a:t>
            </a:r>
          </a:p>
        </p:txBody>
      </p:sp>
      <p:sp>
        <p:nvSpPr>
          <p:cNvPr id="5" name="">
            <a:extLst xmlns:a="http://schemas.openxmlformats.org/drawingml/2006/main">
              <a:ext uri="{FF2B5EF4-FFF2-40B4-BE49-F238E27FC236}">
                <a16:creationId xmlns:a16="http://schemas.microsoft.com/office/drawing/2014/main" id="{E22C1560-E972-49FE-A66D-C94A473A42DB}"/>
              </a:ext>
            </a:extLst>
          </p:cNvPr>
          <p:cNvSpPr>
            <a:spLocks xmlns:a="http://schemas.openxmlformats.org/drawingml/2006/main" noGrp="1"/>
          </p:cNvSpPr>
          <p:nvPr/>
        </p:nvSpPr>
        <p:spPr>
          <a:xfrm xmlns:a="http://schemas.openxmlformats.org/drawingml/2006/main">
            <a:off x="609600" y="32861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03747"/>
                </a:solidFill>
                <a:latin typeface="DejaVu Sans"/>
                <a:ea typeface="DejaVu Sans"/>
                <a:cs typeface="DejaVu Sans"/>
              </a:defRPr>
            </a:defPPr>
          </a:lstStyle>
          <a:p xmlns:a="http://schemas.openxmlformats.org/drawingml/2006/main">
            <a:pPr>
              <a:buNone/>
              <a:defRPr sz="2400" b="0">
                <a:solidFill>
                  <a:srgbClr val="203747"/>
                </a:solidFill>
                <a:latin typeface="DejaVu Sans"/>
                <a:ea typeface="DejaVu Sans"/>
                <a:cs typeface="DejaVu Sans"/>
              </a:defRPr>
            </a:pPr>
            <a:r>
              <a:rPr sz="2400" b="0">
                <a:solidFill>
                  <a:srgbClr val="203747"/>
                </a:solidFill>
                <a:latin typeface="DejaVu Sans"/>
                <a:ea typeface="DejaVu Sans"/>
                <a:cs typeface="DejaVu Sans"/>
              </a:rPr>
              <a:t>Go baseline and Java with persistent status updates</a:t>
            </a:r>
          </a:p>
        </p:txBody>
      </p:sp>
      <p:sp>
        <p:nvSpPr>
          <p:cNvPr id="6" name="">
            <a:extLst xmlns:a="http://schemas.openxmlformats.org/drawingml/2006/main">
              <a:ext uri="{FF2B5EF4-FFF2-40B4-BE49-F238E27FC236}">
                <a16:creationId xmlns:a16="http://schemas.microsoft.com/office/drawing/2014/main" id="{C26CB410-3405-4C57-AA27-8EC026F77F6A}"/>
              </a:ext>
            </a:extLst>
          </p:cNvPr>
          <p:cNvSpPr>
            <a:spLocks xmlns:a="http://schemas.openxmlformats.org/drawingml/2006/main" noGrp="1"/>
          </p:cNvSpPr>
          <p:nvPr/>
        </p:nvSpPr>
        <p:spPr>
          <a:xfrm xmlns:a="http://schemas.openxmlformats.org/drawingml/2006/main">
            <a:off x="609600" y="42862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03747"/>
                </a:solidFill>
                <a:latin typeface="DejaVu Sans"/>
                <a:ea typeface="DejaVu Sans"/>
                <a:cs typeface="DejaVu Sans"/>
              </a:defRPr>
            </a:defPPr>
          </a:lstStyle>
          <a:p xmlns:a="http://schemas.openxmlformats.org/drawingml/2006/main">
            <a:pPr>
              <a:buNone/>
              <a:defRPr sz="2100" b="0">
                <a:solidFill>
                  <a:srgbClr val="203747"/>
                </a:solidFill>
                <a:latin typeface="DejaVu Sans"/>
                <a:ea typeface="DejaVu Sans"/>
                <a:cs typeface="DejaVu Sans"/>
              </a:defRPr>
            </a:pPr>
            <a:r>
              <a:rPr sz="2100" b="0">
                <a:solidFill>
                  <a:srgbClr val="203747"/>
                </a:solidFill>
                <a:latin typeface="DejaVu Sans"/>
                <a:ea typeface="DejaVu Sans"/>
                <a:cs typeface="DejaVu Sans"/>
              </a:rPr>
              <a:t>Architecture, behavior and fit to the federal developer role</a:t>
            </a:r>
          </a:p>
        </p:txBody>
      </p:sp>
      <p:sp>
        <p:nvSpPr>
          <p:cNvPr id="7" name="">
            <a:extLst xmlns:a="http://schemas.openxmlformats.org/drawingml/2006/main">
              <a:ext uri="{FF2B5EF4-FFF2-40B4-BE49-F238E27FC236}">
                <a16:creationId xmlns:a16="http://schemas.microsoft.com/office/drawing/2014/main" id="{085E1835-D05E-4B91-BACB-7CBE364E16D6}"/>
              </a:ext>
            </a:extLst>
          </p:cNvPr>
          <p:cNvSpPr>
            <a:spLocks xmlns:a="http://schemas.openxmlformats.org/drawingml/2006/main" noGrp="1"/>
          </p:cNvSpPr>
          <p:nvPr/>
        </p:nvSpPr>
        <p:spPr>
          <a:xfrm xmlns:a="http://schemas.openxmlformats.org/drawingml/2006/main">
            <a:off x="609600" y="55340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616F"/>
                </a:solidFill>
                <a:latin typeface="DejaVu Sans"/>
                <a:ea typeface="DejaVu Sans"/>
                <a:cs typeface="DejaVu Sans"/>
              </a:defRPr>
            </a:defPPr>
          </a:lstStyle>
          <a:p xmlns:a="http://schemas.openxmlformats.org/drawingml/2006/main">
            <a:pPr>
              <a:buNone/>
              <a:defRPr sz="1725" b="0">
                <a:solidFill>
                  <a:srgbClr val="42616F"/>
                </a:solidFill>
                <a:latin typeface="DejaVu Sans"/>
                <a:ea typeface="DejaVu Sans"/>
                <a:cs typeface="DejaVu Sans"/>
              </a:defRPr>
            </a:pPr>
            <a:r>
              <a:rPr sz="1725" b="0">
                <a:solidFill>
                  <a:srgbClr val="42616F"/>
                </a:solidFill>
                <a:latin typeface="DejaVu Sans"/>
                <a:ea typeface="DejaVu Sans"/>
                <a:cs typeface="DejaVu Sans"/>
              </a:rPr>
              <a:t>Marc Alexander</a:t>
            </a:r>
          </a:p>
          <a:p xmlns:a="http://schemas.openxmlformats.org/drawingml/2006/main">
            <a:pPr>
              <a:buNone/>
              <a:defRPr sz="1725" b="0">
                <a:solidFill>
                  <a:srgbClr val="42616F"/>
                </a:solidFill>
                <a:latin typeface="DejaVu Sans"/>
                <a:ea typeface="DejaVu Sans"/>
                <a:cs typeface="DejaVu Sans"/>
              </a:defRPr>
            </a:pPr>
            <a:r>
              <a:rPr sz="1725" b="0">
                <a:solidFill>
                  <a:srgbClr val="42616F"/>
                </a:solidFill>
                <a:latin typeface="DejaVu Sans"/>
                <a:ea typeface="DejaVu Sans"/>
                <a:cs typeface="DejaVu Sans"/>
              </a:rPr>
              <a:t>8 October 2026</a:t>
            </a:r>
          </a:p>
        </p:txBody>
      </p:sp>
    </p:spTree>
    <p:extLst>
      <p:ext uri="{BB962C8B-B14F-4D97-AF65-F5344CB8AC3E}">
        <p14:creationId xmlns:p14="http://schemas.microsoft.com/office/powerpoint/2010/main" val="2108198345"/>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A6DE008-3525-4114-A17A-949B189C8FC2}"/>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Shared workflow and architecture</a:t>
            </a:r>
          </a:p>
        </p:txBody>
      </p:sp>
      <p:sp>
        <p:nvSpPr>
          <p:cNvPr id="2" name="">
            <a:extLst xmlns:a="http://schemas.openxmlformats.org/drawingml/2006/main">
              <a:ext uri="{FF2B5EF4-FFF2-40B4-BE49-F238E27FC236}">
                <a16:creationId xmlns:a16="http://schemas.microsoft.com/office/drawing/2014/main" id="{0E1DA717-35FB-494D-BA80-B51F44DFC699}"/>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9159352C-70F6-4DE3-BED4-FC856C589F6D}"/>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2</a:t>
            </a:r>
          </a:p>
        </p:txBody>
      </p:sp>
      <p:sp>
        <p:nvSpPr>
          <p:cNvPr id="4" name="">
            <a:extLst xmlns:a="http://schemas.openxmlformats.org/drawingml/2006/main">
              <a:ext uri="{FF2B5EF4-FFF2-40B4-BE49-F238E27FC236}">
                <a16:creationId xmlns:a16="http://schemas.microsoft.com/office/drawing/2014/main" id="{81CE53C4-32A7-4B11-AEAC-D0592A19AEE3}"/>
              </a:ext>
            </a:extLst>
          </p:cNvPr>
          <p:cNvSpPr>
            <a:spLocks xmlns:a="http://schemas.openxmlformats.org/drawingml/2006/main" noGrp="1"/>
          </p:cNvSpPr>
          <p:nvPr/>
        </p:nvSpPr>
        <p:spPr>
          <a:xfrm xmlns:a="http://schemas.openxmlformats.org/drawingml/2006/main">
            <a:off x="609600" y="1485900"/>
            <a:ext cx="53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A7B86"/>
                </a:solidFill>
                <a:latin typeface="DejaVu Sans"/>
                <a:ea typeface="DejaVu Sans"/>
                <a:cs typeface="DejaVu Sans"/>
              </a:defRPr>
            </a:defPPr>
          </a:lstStyle>
          <a:p xmlns:a="http://schemas.openxmlformats.org/drawingml/2006/main">
            <a:pPr>
              <a:buNone/>
              <a:defRPr sz="2850" b="1">
                <a:solidFill>
                  <a:srgbClr val="1A7B86"/>
                </a:solidFill>
                <a:latin typeface="DejaVu Sans"/>
                <a:ea typeface="DejaVu Sans"/>
                <a:cs typeface="DejaVu Sans"/>
              </a:defRPr>
            </a:pPr>
            <a:r>
              <a:rPr sz="2850" b="1">
                <a:solidFill>
                  <a:srgbClr val="1A7B86"/>
                </a:solidFill>
                <a:latin typeface="DejaVu Sans"/>
                <a:ea typeface="DejaVu Sans"/>
                <a:cs typeface="DejaVu Sans"/>
              </a:rPr>
              <a:t>1</a:t>
            </a:r>
          </a:p>
        </p:txBody>
      </p:sp>
      <p:sp>
        <p:nvSpPr>
          <p:cNvPr id="5" name="">
            <a:extLst xmlns:a="http://schemas.openxmlformats.org/drawingml/2006/main">
              <a:ext uri="{FF2B5EF4-FFF2-40B4-BE49-F238E27FC236}">
                <a16:creationId xmlns:a16="http://schemas.microsoft.com/office/drawing/2014/main" id="{AED61D8B-64EF-4461-A257-C75CF7E5A3D9}"/>
              </a:ext>
            </a:extLst>
          </p:cNvPr>
          <p:cNvSpPr>
            <a:spLocks xmlns:a="http://schemas.openxmlformats.org/drawingml/2006/main" noGrp="1"/>
          </p:cNvSpPr>
          <p:nvPr/>
        </p:nvSpPr>
        <p:spPr>
          <a:xfrm xmlns:a="http://schemas.openxmlformats.org/drawingml/2006/main">
            <a:off x="1295400" y="148590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2B3A"/>
                </a:solidFill>
                <a:latin typeface="DejaVu Sans"/>
                <a:ea typeface="DejaVu Sans"/>
                <a:cs typeface="DejaVu Sans"/>
              </a:defRPr>
            </a:defPPr>
          </a:lstStyle>
          <a:p xmlns:a="http://schemas.openxmlformats.org/drawingml/2006/main">
            <a:pPr>
              <a:buNone/>
              <a:defRPr sz="2100" b="1">
                <a:solidFill>
                  <a:srgbClr val="112B3A"/>
                </a:solidFill>
                <a:latin typeface="DejaVu Sans"/>
                <a:ea typeface="DejaVu Sans"/>
                <a:cs typeface="DejaVu Sans"/>
              </a:defRPr>
            </a:pPr>
            <a:r>
              <a:rPr sz="2100" b="1">
                <a:solidFill>
                  <a:srgbClr val="112B3A"/>
                </a:solidFill>
                <a:latin typeface="DejaVu Sans"/>
                <a:ea typeface="DejaVu Sans"/>
                <a:cs typeface="DejaVu Sans"/>
              </a:rPr>
              <a:t>React portal and REST API</a:t>
            </a:r>
          </a:p>
        </p:txBody>
      </p:sp>
      <p:sp>
        <p:nvSpPr>
          <p:cNvPr id="6" name="">
            <a:extLst xmlns:a="http://schemas.openxmlformats.org/drawingml/2006/main">
              <a:ext uri="{FF2B5EF4-FFF2-40B4-BE49-F238E27FC236}">
                <a16:creationId xmlns:a16="http://schemas.microsoft.com/office/drawing/2014/main" id="{542C9220-0334-4395-90F1-34847B14B10B}"/>
              </a:ext>
            </a:extLst>
          </p:cNvPr>
          <p:cNvSpPr>
            <a:spLocks xmlns:a="http://schemas.openxmlformats.org/drawingml/2006/main" noGrp="1"/>
          </p:cNvSpPr>
          <p:nvPr/>
        </p:nvSpPr>
        <p:spPr>
          <a:xfrm xmlns:a="http://schemas.openxmlformats.org/drawingml/2006/main">
            <a:off x="1295400" y="19050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03747"/>
                </a:solidFill>
                <a:latin typeface="DejaVu Sans"/>
                <a:ea typeface="DejaVu Sans"/>
                <a:cs typeface="DejaVu Sans"/>
              </a:defRPr>
            </a:defPPr>
          </a:lstStyle>
          <a:p xmlns:a="http://schemas.openxmlformats.org/drawingml/2006/main">
            <a:pPr>
              <a:buNone/>
              <a:defRPr sz="1800" b="0">
                <a:solidFill>
                  <a:srgbClr val="203747"/>
                </a:solidFill>
                <a:latin typeface="DejaVu Sans"/>
                <a:ea typeface="DejaVu Sans"/>
                <a:cs typeface="DejaVu Sans"/>
              </a:defRPr>
            </a:pPr>
            <a:r>
              <a:rPr sz="1800" b="0">
                <a:solidFill>
                  <a:srgbClr val="203747"/>
                </a:solidFill>
                <a:latin typeface="DejaVu Sans"/>
                <a:ea typeface="DejaVu Sans"/>
                <a:cs typeface="DejaVu Sans"/>
              </a:rPr>
              <a:t>Save a validated draft in PostgreSQL. OpenAPI supplies interactive docs.</a:t>
            </a:r>
          </a:p>
        </p:txBody>
      </p:sp>
      <p:sp>
        <p:nvSpPr>
          <p:cNvPr id="7" name="">
            <a:extLst xmlns:a="http://schemas.openxmlformats.org/drawingml/2006/main">
              <a:ext uri="{FF2B5EF4-FFF2-40B4-BE49-F238E27FC236}">
                <a16:creationId xmlns:a16="http://schemas.microsoft.com/office/drawing/2014/main" id="{B7D7AD10-499A-4C8F-ABE1-A090E7933A8A}"/>
              </a:ext>
            </a:extLst>
          </p:cNvPr>
          <p:cNvSpPr>
            <a:spLocks xmlns:a="http://schemas.openxmlformats.org/drawingml/2006/main" noGrp="1"/>
          </p:cNvSpPr>
          <p:nvPr/>
        </p:nvSpPr>
        <p:spPr>
          <a:xfrm xmlns:a="http://schemas.openxmlformats.org/drawingml/2006/main">
            <a:off x="609600" y="2390775"/>
            <a:ext cx="53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A7B86"/>
                </a:solidFill>
                <a:latin typeface="DejaVu Sans"/>
                <a:ea typeface="DejaVu Sans"/>
                <a:cs typeface="DejaVu Sans"/>
              </a:defRPr>
            </a:defPPr>
          </a:lstStyle>
          <a:p xmlns:a="http://schemas.openxmlformats.org/drawingml/2006/main">
            <a:pPr>
              <a:buNone/>
              <a:defRPr sz="2850" b="1">
                <a:solidFill>
                  <a:srgbClr val="1A7B86"/>
                </a:solidFill>
                <a:latin typeface="DejaVu Sans"/>
                <a:ea typeface="DejaVu Sans"/>
                <a:cs typeface="DejaVu Sans"/>
              </a:defRPr>
            </a:pPr>
            <a:r>
              <a:rPr sz="2850" b="1">
                <a:solidFill>
                  <a:srgbClr val="1A7B86"/>
                </a:solidFill>
                <a:latin typeface="DejaVu Sans"/>
                <a:ea typeface="DejaVu Sans"/>
                <a:cs typeface="DejaVu Sans"/>
              </a:rPr>
              <a:t>2</a:t>
            </a:r>
          </a:p>
        </p:txBody>
      </p:sp>
      <p:sp>
        <p:nvSpPr>
          <p:cNvPr id="8" name="">
            <a:extLst xmlns:a="http://schemas.openxmlformats.org/drawingml/2006/main">
              <a:ext uri="{FF2B5EF4-FFF2-40B4-BE49-F238E27FC236}">
                <a16:creationId xmlns:a16="http://schemas.microsoft.com/office/drawing/2014/main" id="{6FD2767B-13E3-452B-A85D-3C6C7F4AC21F}"/>
              </a:ext>
            </a:extLst>
          </p:cNvPr>
          <p:cNvSpPr>
            <a:spLocks xmlns:a="http://schemas.openxmlformats.org/drawingml/2006/main" noGrp="1"/>
          </p:cNvSpPr>
          <p:nvPr/>
        </p:nvSpPr>
        <p:spPr>
          <a:xfrm xmlns:a="http://schemas.openxmlformats.org/drawingml/2006/main">
            <a:off x="1295400" y="23907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2B3A"/>
                </a:solidFill>
                <a:latin typeface="DejaVu Sans"/>
                <a:ea typeface="DejaVu Sans"/>
                <a:cs typeface="DejaVu Sans"/>
              </a:defRPr>
            </a:defPPr>
          </a:lstStyle>
          <a:p xmlns:a="http://schemas.openxmlformats.org/drawingml/2006/main">
            <a:pPr>
              <a:buNone/>
              <a:defRPr sz="2100" b="1">
                <a:solidFill>
                  <a:srgbClr val="112B3A"/>
                </a:solidFill>
                <a:latin typeface="DejaVu Sans"/>
                <a:ea typeface="DejaVu Sans"/>
                <a:cs typeface="DejaVu Sans"/>
              </a:defRPr>
            </a:pPr>
            <a:r>
              <a:rPr sz="2100" b="1">
                <a:solidFill>
                  <a:srgbClr val="112B3A"/>
                </a:solidFill>
                <a:latin typeface="DejaVu Sans"/>
                <a:ea typeface="DejaVu Sans"/>
                <a:cs typeface="DejaVu Sans"/>
              </a:rPr>
              <a:t>Submission transaction</a:t>
            </a:r>
          </a:p>
        </p:txBody>
      </p:sp>
      <p:sp>
        <p:nvSpPr>
          <p:cNvPr id="9" name="">
            <a:extLst xmlns:a="http://schemas.openxmlformats.org/drawingml/2006/main">
              <a:ext uri="{FF2B5EF4-FFF2-40B4-BE49-F238E27FC236}">
                <a16:creationId xmlns:a16="http://schemas.microsoft.com/office/drawing/2014/main" id="{A5E8668D-DFF1-4AD0-A56E-7389C2458629}"/>
              </a:ext>
            </a:extLst>
          </p:cNvPr>
          <p:cNvSpPr>
            <a:spLocks xmlns:a="http://schemas.openxmlformats.org/drawingml/2006/main" noGrp="1"/>
          </p:cNvSpPr>
          <p:nvPr/>
        </p:nvSpPr>
        <p:spPr>
          <a:xfrm xmlns:a="http://schemas.openxmlformats.org/drawingml/2006/main">
            <a:off x="1295400" y="28098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03747"/>
                </a:solidFill>
                <a:latin typeface="DejaVu Sans"/>
                <a:ea typeface="DejaVu Sans"/>
                <a:cs typeface="DejaVu Sans"/>
              </a:defRPr>
            </a:defPPr>
          </a:lstStyle>
          <a:p xmlns:a="http://schemas.openxmlformats.org/drawingml/2006/main">
            <a:pPr>
              <a:buNone/>
              <a:defRPr sz="1800" b="0">
                <a:solidFill>
                  <a:srgbClr val="203747"/>
                </a:solidFill>
                <a:latin typeface="DejaVu Sans"/>
                <a:ea typeface="DejaVu Sans"/>
                <a:cs typeface="DejaVu Sans"/>
              </a:defRPr>
            </a:pPr>
            <a:r>
              <a:rPr sz="1800" b="0">
                <a:solidFill>
                  <a:srgbClr val="203747"/>
                </a:solidFill>
                <a:latin typeface="DejaVu Sans"/>
                <a:ea typeface="DejaVu Sans"/>
                <a:cs typeface="DejaVu Sans"/>
              </a:rPr>
              <a:t>Lock one declaration. Commit submitted status, audit and outbox together.</a:t>
            </a:r>
          </a:p>
        </p:txBody>
      </p:sp>
      <p:sp>
        <p:nvSpPr>
          <p:cNvPr id="10" name="">
            <a:extLst xmlns:a="http://schemas.openxmlformats.org/drawingml/2006/main">
              <a:ext uri="{FF2B5EF4-FFF2-40B4-BE49-F238E27FC236}">
                <a16:creationId xmlns:a16="http://schemas.microsoft.com/office/drawing/2014/main" id="{EB3AE7A4-9F65-454C-94E3-3FBCD51B3B67}"/>
              </a:ext>
            </a:extLst>
          </p:cNvPr>
          <p:cNvSpPr>
            <a:spLocks xmlns:a="http://schemas.openxmlformats.org/drawingml/2006/main" noGrp="1"/>
          </p:cNvSpPr>
          <p:nvPr/>
        </p:nvSpPr>
        <p:spPr>
          <a:xfrm xmlns:a="http://schemas.openxmlformats.org/drawingml/2006/main">
            <a:off x="609600" y="3295650"/>
            <a:ext cx="53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A7B86"/>
                </a:solidFill>
                <a:latin typeface="DejaVu Sans"/>
                <a:ea typeface="DejaVu Sans"/>
                <a:cs typeface="DejaVu Sans"/>
              </a:defRPr>
            </a:defPPr>
          </a:lstStyle>
          <a:p xmlns:a="http://schemas.openxmlformats.org/drawingml/2006/main">
            <a:pPr>
              <a:buNone/>
              <a:defRPr sz="2850" b="1">
                <a:solidFill>
                  <a:srgbClr val="1A7B86"/>
                </a:solidFill>
                <a:latin typeface="DejaVu Sans"/>
                <a:ea typeface="DejaVu Sans"/>
                <a:cs typeface="DejaVu Sans"/>
              </a:defRPr>
            </a:pPr>
            <a:r>
              <a:rPr sz="2850" b="1">
                <a:solidFill>
                  <a:srgbClr val="1A7B86"/>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A9932E76-D50F-4270-A8A4-499F228B49DE}"/>
              </a:ext>
            </a:extLst>
          </p:cNvPr>
          <p:cNvSpPr>
            <a:spLocks xmlns:a="http://schemas.openxmlformats.org/drawingml/2006/main" noGrp="1"/>
          </p:cNvSpPr>
          <p:nvPr/>
        </p:nvSpPr>
        <p:spPr>
          <a:xfrm xmlns:a="http://schemas.openxmlformats.org/drawingml/2006/main">
            <a:off x="1295400" y="329565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2B3A"/>
                </a:solidFill>
                <a:latin typeface="DejaVu Sans"/>
                <a:ea typeface="DejaVu Sans"/>
                <a:cs typeface="DejaVu Sans"/>
              </a:defRPr>
            </a:defPPr>
          </a:lstStyle>
          <a:p xmlns:a="http://schemas.openxmlformats.org/drawingml/2006/main">
            <a:pPr>
              <a:buNone/>
              <a:defRPr sz="2100" b="1">
                <a:solidFill>
                  <a:srgbClr val="112B3A"/>
                </a:solidFill>
                <a:latin typeface="DejaVu Sans"/>
                <a:ea typeface="DejaVu Sans"/>
                <a:cs typeface="DejaVu Sans"/>
              </a:defRPr>
            </a:pPr>
            <a:r>
              <a:rPr sz="2100" b="1">
                <a:solidFill>
                  <a:srgbClr val="112B3A"/>
                </a:solidFill>
                <a:latin typeface="DejaVu Sans"/>
                <a:ea typeface="DejaVu Sans"/>
                <a:cs typeface="DejaVu Sans"/>
              </a:rPr>
              <a:t>Outbox publisher and Kafka</a:t>
            </a:r>
          </a:p>
        </p:txBody>
      </p:sp>
      <p:sp>
        <p:nvSpPr>
          <p:cNvPr id="12" name="">
            <a:extLst xmlns:a="http://schemas.openxmlformats.org/drawingml/2006/main">
              <a:ext uri="{FF2B5EF4-FFF2-40B4-BE49-F238E27FC236}">
                <a16:creationId xmlns:a16="http://schemas.microsoft.com/office/drawing/2014/main" id="{74E55F35-DDCB-4BE6-B35F-4EDD30B6910B}"/>
              </a:ext>
            </a:extLst>
          </p:cNvPr>
          <p:cNvSpPr>
            <a:spLocks xmlns:a="http://schemas.openxmlformats.org/drawingml/2006/main" noGrp="1"/>
          </p:cNvSpPr>
          <p:nvPr/>
        </p:nvSpPr>
        <p:spPr>
          <a:xfrm xmlns:a="http://schemas.openxmlformats.org/drawingml/2006/main">
            <a:off x="1295400" y="3714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03747"/>
                </a:solidFill>
                <a:latin typeface="DejaVu Sans"/>
                <a:ea typeface="DejaVu Sans"/>
                <a:cs typeface="DejaVu Sans"/>
              </a:defRPr>
            </a:defPPr>
          </a:lstStyle>
          <a:p xmlns:a="http://schemas.openxmlformats.org/drawingml/2006/main">
            <a:pPr>
              <a:buNone/>
              <a:defRPr sz="1800" b="0">
                <a:solidFill>
                  <a:srgbClr val="203747"/>
                </a:solidFill>
                <a:latin typeface="DejaVu Sans"/>
                <a:ea typeface="DejaVu Sans"/>
                <a:cs typeface="DejaVu Sans"/>
              </a:defRPr>
            </a:pPr>
            <a:r>
              <a:rPr sz="1800" b="0">
                <a:solidFill>
                  <a:srgbClr val="203747"/>
                </a:solidFill>
                <a:latin typeface="DejaVu Sans"/>
                <a:ea typeface="DejaVu Sans"/>
                <a:cs typeface="DejaVu Sans"/>
              </a:rPr>
              <a:t>Publish to trade.submitted. Mark sent after broker acknowledgment.</a:t>
            </a:r>
          </a:p>
        </p:txBody>
      </p:sp>
      <p:sp>
        <p:nvSpPr>
          <p:cNvPr id="13" name="">
            <a:extLst xmlns:a="http://schemas.openxmlformats.org/drawingml/2006/main">
              <a:ext uri="{FF2B5EF4-FFF2-40B4-BE49-F238E27FC236}">
                <a16:creationId xmlns:a16="http://schemas.microsoft.com/office/drawing/2014/main" id="{E54F375A-0C24-4AE2-B928-2BD43BEA387C}"/>
              </a:ext>
            </a:extLst>
          </p:cNvPr>
          <p:cNvSpPr>
            <a:spLocks xmlns:a="http://schemas.openxmlformats.org/drawingml/2006/main" noGrp="1"/>
          </p:cNvSpPr>
          <p:nvPr/>
        </p:nvSpPr>
        <p:spPr>
          <a:xfrm xmlns:a="http://schemas.openxmlformats.org/drawingml/2006/main">
            <a:off x="609600" y="4200525"/>
            <a:ext cx="53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A7B86"/>
                </a:solidFill>
                <a:latin typeface="DejaVu Sans"/>
                <a:ea typeface="DejaVu Sans"/>
                <a:cs typeface="DejaVu Sans"/>
              </a:defRPr>
            </a:defPPr>
          </a:lstStyle>
          <a:p xmlns:a="http://schemas.openxmlformats.org/drawingml/2006/main">
            <a:pPr>
              <a:buNone/>
              <a:defRPr sz="2850" b="1">
                <a:solidFill>
                  <a:srgbClr val="1A7B86"/>
                </a:solidFill>
                <a:latin typeface="DejaVu Sans"/>
                <a:ea typeface="DejaVu Sans"/>
                <a:cs typeface="DejaVu Sans"/>
              </a:defRPr>
            </a:pPr>
            <a:r>
              <a:rPr sz="2850" b="1">
                <a:solidFill>
                  <a:srgbClr val="1A7B86"/>
                </a:solidFill>
                <a:latin typeface="DejaVu Sans"/>
                <a:ea typeface="DejaVu Sans"/>
                <a:cs typeface="DejaVu Sans"/>
              </a:rPr>
              <a:t>4</a:t>
            </a:r>
          </a:p>
        </p:txBody>
      </p:sp>
      <p:sp>
        <p:nvSpPr>
          <p:cNvPr id="14" name="">
            <a:extLst xmlns:a="http://schemas.openxmlformats.org/drawingml/2006/main">
              <a:ext uri="{FF2B5EF4-FFF2-40B4-BE49-F238E27FC236}">
                <a16:creationId xmlns:a16="http://schemas.microsoft.com/office/drawing/2014/main" id="{3C97F4C4-3544-4AD7-A8A1-0763B5C96F8C}"/>
              </a:ext>
            </a:extLst>
          </p:cNvPr>
          <p:cNvSpPr>
            <a:spLocks xmlns:a="http://schemas.openxmlformats.org/drawingml/2006/main" noGrp="1"/>
          </p:cNvSpPr>
          <p:nvPr/>
        </p:nvSpPr>
        <p:spPr>
          <a:xfrm xmlns:a="http://schemas.openxmlformats.org/drawingml/2006/main">
            <a:off x="1295400" y="42005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2B3A"/>
                </a:solidFill>
                <a:latin typeface="DejaVu Sans"/>
                <a:ea typeface="DejaVu Sans"/>
                <a:cs typeface="DejaVu Sans"/>
              </a:defRPr>
            </a:defPPr>
          </a:lstStyle>
          <a:p xmlns:a="http://schemas.openxmlformats.org/drawingml/2006/main">
            <a:pPr>
              <a:buNone/>
              <a:defRPr sz="2100" b="1">
                <a:solidFill>
                  <a:srgbClr val="112B3A"/>
                </a:solidFill>
                <a:latin typeface="DejaVu Sans"/>
                <a:ea typeface="DejaVu Sans"/>
                <a:cs typeface="DejaVu Sans"/>
              </a:defRPr>
            </a:pPr>
            <a:r>
              <a:rPr sz="2100" b="1">
                <a:solidFill>
                  <a:srgbClr val="112B3A"/>
                </a:solidFill>
                <a:latin typeface="DejaVu Sans"/>
                <a:ea typeface="DejaVu Sans"/>
                <a:cs typeface="DejaVu Sans"/>
              </a:rPr>
              <a:t>Decision worker and completion outbox</a:t>
            </a:r>
          </a:p>
        </p:txBody>
      </p:sp>
      <p:sp>
        <p:nvSpPr>
          <p:cNvPr id="15" name="">
            <a:extLst xmlns:a="http://schemas.openxmlformats.org/drawingml/2006/main">
              <a:ext uri="{FF2B5EF4-FFF2-40B4-BE49-F238E27FC236}">
                <a16:creationId xmlns:a16="http://schemas.microsoft.com/office/drawing/2014/main" id="{7C62110C-565B-445A-9D5F-9C495A80150F}"/>
              </a:ext>
            </a:extLst>
          </p:cNvPr>
          <p:cNvSpPr>
            <a:spLocks xmlns:a="http://schemas.openxmlformats.org/drawingml/2006/main" noGrp="1"/>
          </p:cNvSpPr>
          <p:nvPr/>
        </p:nvSpPr>
        <p:spPr>
          <a:xfrm xmlns:a="http://schemas.openxmlformats.org/drawingml/2006/main">
            <a:off x="1295400" y="46196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03747"/>
                </a:solidFill>
                <a:latin typeface="DejaVu Sans"/>
                <a:ea typeface="DejaVu Sans"/>
                <a:cs typeface="DejaVu Sans"/>
              </a:defRPr>
            </a:defPPr>
          </a:lstStyle>
          <a:p xmlns:a="http://schemas.openxmlformats.org/drawingml/2006/main">
            <a:pPr>
              <a:buNone/>
              <a:defRPr sz="1800" b="0">
                <a:solidFill>
                  <a:srgbClr val="203747"/>
                </a:solidFill>
                <a:latin typeface="DejaVu Sans"/>
                <a:ea typeface="DejaVu Sans"/>
                <a:cs typeface="DejaVu Sans"/>
              </a:defRPr>
            </a:pPr>
            <a:r>
              <a:rPr sz="1800" b="0">
                <a:solidFill>
                  <a:srgbClr val="203747"/>
                </a:solidFill>
                <a:latin typeface="DejaVu Sans"/>
                <a:ea typeface="DejaVu Sans"/>
                <a:cs typeface="DejaVu Sans"/>
              </a:rPr>
              <a:t>Commit the decision. Java also queues a completion event atomically.</a:t>
            </a:r>
          </a:p>
        </p:txBody>
      </p:sp>
      <p:sp>
        <p:nvSpPr>
          <p:cNvPr id="16" name="">
            <a:extLst xmlns:a="http://schemas.openxmlformats.org/drawingml/2006/main">
              <a:ext uri="{FF2B5EF4-FFF2-40B4-BE49-F238E27FC236}">
                <a16:creationId xmlns:a16="http://schemas.microsoft.com/office/drawing/2014/main" id="{D1C05620-8B6E-4C34-B0D0-5001EE50D0FE}"/>
              </a:ext>
            </a:extLst>
          </p:cNvPr>
          <p:cNvSpPr>
            <a:spLocks xmlns:a="http://schemas.openxmlformats.org/drawingml/2006/main" noGrp="1"/>
          </p:cNvSpPr>
          <p:nvPr/>
        </p:nvSpPr>
        <p:spPr>
          <a:xfrm xmlns:a="http://schemas.openxmlformats.org/drawingml/2006/main">
            <a:off x="609600" y="5105400"/>
            <a:ext cx="53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A7B86"/>
                </a:solidFill>
                <a:latin typeface="DejaVu Sans"/>
                <a:ea typeface="DejaVu Sans"/>
                <a:cs typeface="DejaVu Sans"/>
              </a:defRPr>
            </a:defPPr>
          </a:lstStyle>
          <a:p xmlns:a="http://schemas.openxmlformats.org/drawingml/2006/main">
            <a:pPr>
              <a:buNone/>
              <a:defRPr sz="2850" b="1">
                <a:solidFill>
                  <a:srgbClr val="1A7B86"/>
                </a:solidFill>
                <a:latin typeface="DejaVu Sans"/>
                <a:ea typeface="DejaVu Sans"/>
                <a:cs typeface="DejaVu Sans"/>
              </a:defRPr>
            </a:pPr>
            <a:r>
              <a:rPr sz="2850" b="1">
                <a:solidFill>
                  <a:srgbClr val="1A7B86"/>
                </a:solidFill>
                <a:latin typeface="DejaVu Sans"/>
                <a:ea typeface="DejaVu Sans"/>
                <a:cs typeface="DejaVu Sans"/>
              </a:rPr>
              <a:t>5</a:t>
            </a:r>
          </a:p>
        </p:txBody>
      </p:sp>
      <p:sp>
        <p:nvSpPr>
          <p:cNvPr id="17" name="">
            <a:extLst xmlns:a="http://schemas.openxmlformats.org/drawingml/2006/main">
              <a:ext uri="{FF2B5EF4-FFF2-40B4-BE49-F238E27FC236}">
                <a16:creationId xmlns:a16="http://schemas.microsoft.com/office/drawing/2014/main" id="{D0530A06-C40D-4B83-AE5A-680E8AA88102}"/>
              </a:ext>
            </a:extLst>
          </p:cNvPr>
          <p:cNvSpPr>
            <a:spLocks xmlns:a="http://schemas.openxmlformats.org/drawingml/2006/main" noGrp="1"/>
          </p:cNvSpPr>
          <p:nvPr/>
        </p:nvSpPr>
        <p:spPr>
          <a:xfrm xmlns:a="http://schemas.openxmlformats.org/drawingml/2006/main">
            <a:off x="1295400" y="5105400"/>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12B3A"/>
                </a:solidFill>
                <a:latin typeface="DejaVu Sans"/>
                <a:ea typeface="DejaVu Sans"/>
                <a:cs typeface="DejaVu Sans"/>
              </a:defRPr>
            </a:defPPr>
          </a:lstStyle>
          <a:p xmlns:a="http://schemas.openxmlformats.org/drawingml/2006/main">
            <a:pPr>
              <a:buNone/>
              <a:defRPr sz="2100" b="1">
                <a:solidFill>
                  <a:srgbClr val="112B3A"/>
                </a:solidFill>
                <a:latin typeface="DejaVu Sans"/>
                <a:ea typeface="DejaVu Sans"/>
                <a:cs typeface="DejaVu Sans"/>
              </a:defRPr>
            </a:pPr>
            <a:r>
              <a:rPr sz="2100" b="1">
                <a:solidFill>
                  <a:srgbClr val="112B3A"/>
                </a:solidFill>
                <a:latin typeface="DejaVu Sans"/>
                <a:ea typeface="DejaVu Sans"/>
                <a:cs typeface="DejaVu Sans"/>
              </a:rPr>
              <a:t>Status delivery to the portal</a:t>
            </a:r>
          </a:p>
        </p:txBody>
      </p:sp>
      <p:sp>
        <p:nvSpPr>
          <p:cNvPr id="18" name="">
            <a:extLst xmlns:a="http://schemas.openxmlformats.org/drawingml/2006/main">
              <a:ext uri="{FF2B5EF4-FFF2-40B4-BE49-F238E27FC236}">
                <a16:creationId xmlns:a16="http://schemas.microsoft.com/office/drawing/2014/main" id="{A55E7FD5-2C3B-495E-BFF0-E6A9CDA42137}"/>
              </a:ext>
            </a:extLst>
          </p:cNvPr>
          <p:cNvSpPr>
            <a:spLocks xmlns:a="http://schemas.openxmlformats.org/drawingml/2006/main" noGrp="1"/>
          </p:cNvSpPr>
          <p:nvPr/>
        </p:nvSpPr>
        <p:spPr>
          <a:xfrm xmlns:a="http://schemas.openxmlformats.org/drawingml/2006/main">
            <a:off x="1295400" y="55245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03747"/>
                </a:solidFill>
                <a:latin typeface="DejaVu Sans"/>
                <a:ea typeface="DejaVu Sans"/>
                <a:cs typeface="DejaVu Sans"/>
              </a:defRPr>
            </a:defPPr>
          </a:lstStyle>
          <a:p xmlns:a="http://schemas.openxmlformats.org/drawingml/2006/main">
            <a:pPr>
              <a:buNone/>
              <a:defRPr sz="1800" b="0">
                <a:solidFill>
                  <a:srgbClr val="203747"/>
                </a:solidFill>
                <a:latin typeface="DejaVu Sans"/>
                <a:ea typeface="DejaVu Sans"/>
                <a:cs typeface="DejaVu Sans"/>
              </a:defRPr>
            </a:pPr>
            <a:r>
              <a:rPr sz="1800" b="0">
                <a:solidFill>
                  <a:srgbClr val="203747"/>
                </a:solidFill>
                <a:latin typeface="DejaVu Sans"/>
                <a:ea typeface="DejaVu Sans"/>
                <a:cs typeface="DejaVu Sans"/>
              </a:rPr>
              <a:t>Go polls. Java consumes trade.completed and notifies React over SSE.</a:t>
            </a:r>
          </a:p>
        </p:txBody>
      </p:sp>
    </p:spTree>
    <p:extLst>
      <p:ext uri="{BB962C8B-B14F-4D97-AF65-F5344CB8AC3E}">
        <p14:creationId xmlns:p14="http://schemas.microsoft.com/office/powerpoint/2010/main" val="1690946444"/>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AF8A12-0019-4C26-ABB9-2B3B378CC5B0}"/>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Duplicate behavior in both demos</a:t>
            </a:r>
          </a:p>
        </p:txBody>
      </p:sp>
      <p:sp>
        <p:nvSpPr>
          <p:cNvPr id="2" name="">
            <a:extLst xmlns:a="http://schemas.openxmlformats.org/drawingml/2006/main">
              <a:ext uri="{FF2B5EF4-FFF2-40B4-BE49-F238E27FC236}">
                <a16:creationId xmlns:a16="http://schemas.microsoft.com/office/drawing/2014/main" id="{DA1B00E3-D30F-4D02-BED1-81A5038E00D3}"/>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DDCB052D-480B-4759-B793-E6E036D43BAD}"/>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3</a:t>
            </a:r>
          </a:p>
        </p:txBody>
      </p:sp>
      <p:graphicFrame>
        <p:nvGraphicFramePr>
          <p:cNvPr id="4" name="">
            <a:extLst xmlns:a="http://schemas.openxmlformats.org/drawingml/2006/main">
              <a:ext uri="{FF2B5EF4-FFF2-40B4-BE49-F238E27FC236}">
                <a16:creationId xmlns:a16="http://schemas.microsoft.com/office/drawing/2014/main" id="{05B0DF00-2B62-4828-BEBB-1E7B65BF65E8}"/>
              </a:ext>
            </a:extLst>
          </p:cNvPr>
          <p:cNvGraphicFramePr/>
          <p:nvPr/>
        </p:nvGraphicFramePr>
        <p:xfrm>
          <a:off xmlns:a="http://schemas.openxmlformats.org/drawingml/2006/main" x="609600" y="1495425"/>
          <a:ext xmlns:a="http://schemas.openxmlformats.org/drawingml/2006/main" cx="10972800" cy="3857625"/>
        </p:xfrm>
        <a:graphic xmlns:a="http://schemas.openxmlformats.org/drawingml/2006/main">
          <a:graphicData uri="http://schemas.openxmlformats.org/drawingml/2006/table">
            <a:tbl>
              <a:tblPr/>
              <a:tblGrid>
                <a:gridCol w="3286125"/>
                <a:gridCol w="2952750"/>
                <a:gridCol w="4733925"/>
              </a:tblGrid>
              <a:tr h="771525">
                <a:tc>
                  <a:txBody>
                    <a:bodyPr/>
                    <a:lstStyle/>
                    <a:p>
                      <a:r>
                        <a:rPr sz="1800" b="1">
                          <a:solidFill>
                            <a:srgbClr val="FFFFFF"/>
                          </a:solidFill>
                          <a:latin typeface="DejaVu Sans"/>
                          <a:ea typeface="DejaVu Sans"/>
                          <a:cs typeface="DejaVu Sans"/>
                        </a:rPr>
                        <a:t>Action</a:t>
                      </a:r>
                    </a:p>
                  </a:txBody>
                  <a:tcPr marL="91440" marR="91440" marT="45720" marB="45720">
                    <a:solidFill>
                      <a:srgbClr val="112B3A"/>
                    </a:solidFill>
                  </a:tcPr>
                </a:tc>
                <a:tc>
                  <a:txBody>
                    <a:bodyPr/>
                    <a:lstStyle/>
                    <a:p>
                      <a:r>
                        <a:rPr sz="1800" b="1">
                          <a:solidFill>
                            <a:srgbClr val="FFFFFF"/>
                          </a:solidFill>
                          <a:latin typeface="DejaVu Sans"/>
                          <a:ea typeface="DejaVu Sans"/>
                          <a:cs typeface="DejaVu Sans"/>
                        </a:rPr>
                        <a:t>Identity boundary</a:t>
                      </a:r>
                    </a:p>
                  </a:txBody>
                  <a:tcPr marL="91440" marR="91440" marT="45720" marB="45720">
                    <a:solidFill>
                      <a:srgbClr val="112B3A"/>
                    </a:solidFill>
                  </a:tcPr>
                </a:tc>
                <a:tc>
                  <a:txBody>
                    <a:bodyPr/>
                    <a:lstStyle/>
                    <a:p>
                      <a:r>
                        <a:rPr sz="1800" b="1">
                          <a:solidFill>
                            <a:srgbClr val="FFFFFF"/>
                          </a:solidFill>
                          <a:latin typeface="DejaVu Sans"/>
                          <a:ea typeface="DejaVu Sans"/>
                          <a:cs typeface="DejaVu Sans"/>
                        </a:rPr>
                        <a:t>Expected result</a:t>
                      </a:r>
                    </a:p>
                  </a:txBody>
                  <a:tcPr marL="91440" marR="91440" marT="45720" marB="45720">
                    <a:solidFill>
                      <a:srgbClr val="112B3A"/>
                    </a:solidFill>
                  </a:tcPr>
                </a:tc>
              </a:tr>
              <a:tr h="771525">
                <a:tc>
                  <a:txBody>
                    <a:bodyPr/>
                    <a:lstStyle/>
                    <a:p>
                      <a:r>
                        <a:rPr sz="1800" b="0">
                          <a:solidFill>
                            <a:srgbClr val="203747"/>
                          </a:solidFill>
                          <a:latin typeface="DejaVu Sans"/>
                          <a:ea typeface="DejaVu Sans"/>
                          <a:cs typeface="DejaVu Sans"/>
                        </a:rPr>
                        <a:t>Save matching data as new drafts</a:t>
                      </a:r>
                    </a:p>
                  </a:txBody>
                  <a:tcPr marL="91440" marR="91440" marT="45720" marB="45720">
                    <a:solidFill>
                      <a:srgbClr val="FFFFFF"/>
                    </a:solidFill>
                  </a:tcPr>
                </a:tc>
                <a:tc>
                  <a:txBody>
                    <a:bodyPr/>
                    <a:lstStyle/>
                    <a:p>
                      <a:r>
                        <a:rPr sz="1800" b="0">
                          <a:solidFill>
                            <a:srgbClr val="203747"/>
                          </a:solidFill>
                          <a:latin typeface="DejaVu Sans"/>
                          <a:ea typeface="DejaVu Sans"/>
                          <a:cs typeface="DejaVu Sans"/>
                        </a:rPr>
                        <a:t>New declaration IDs</a:t>
                      </a:r>
                    </a:p>
                  </a:txBody>
                  <a:tcPr marL="91440" marR="91440" marT="45720" marB="45720">
                    <a:solidFill>
                      <a:srgbClr val="FFFFFF"/>
                    </a:solidFill>
                  </a:tcPr>
                </a:tc>
                <a:tc>
                  <a:txBody>
                    <a:bodyPr/>
                    <a:lstStyle/>
                    <a:p>
                      <a:r>
                        <a:rPr sz="1800" b="0">
                          <a:solidFill>
                            <a:srgbClr val="203747"/>
                          </a:solidFill>
                          <a:latin typeface="DejaVu Sans"/>
                          <a:ea typeface="DejaVu Sans"/>
                          <a:cs typeface="DejaVu Sans"/>
                        </a:rPr>
                        <a:t>Separate drafts are allowed.</a:t>
                      </a:r>
                    </a:p>
                    <a:p>
                      <a:r>
                        <a:rPr sz="1800" b="0">
                          <a:solidFill>
                            <a:srgbClr val="203747"/>
                          </a:solidFill>
                          <a:latin typeface="DejaVu Sans"/>
                          <a:ea typeface="DejaVu Sans"/>
                          <a:cs typeface="DejaVu Sans"/>
                        </a:rPr>
                        <a:t>Business uniqueness is undefined.</a:t>
                      </a:r>
                    </a:p>
                  </a:txBody>
                  <a:tcPr marL="91440" marR="91440" marT="45720" marB="45720">
                    <a:solidFill>
                      <a:srgbClr val="FFFFFF"/>
                    </a:solidFill>
                  </a:tcPr>
                </a:tc>
              </a:tr>
              <a:tr h="771525">
                <a:tc>
                  <a:txBody>
                    <a:bodyPr/>
                    <a:lstStyle/>
                    <a:p>
                      <a:r>
                        <a:rPr sz="1800" b="0">
                          <a:solidFill>
                            <a:srgbClr val="203747"/>
                          </a:solidFill>
                          <a:latin typeface="DejaVu Sans"/>
                          <a:ea typeface="DejaVu Sans"/>
                          <a:cs typeface="DejaVu Sans"/>
                        </a:rPr>
                        <a:t>Submit the same ID repeatedly</a:t>
                      </a:r>
                    </a:p>
                  </a:txBody>
                  <a:tcPr marL="91440" marR="91440" marT="45720" marB="45720">
                    <a:solidFill>
                      <a:srgbClr val="EAF1F4"/>
                    </a:solidFill>
                  </a:tcPr>
                </a:tc>
                <a:tc>
                  <a:txBody>
                    <a:bodyPr/>
                    <a:lstStyle/>
                    <a:p>
                      <a:r>
                        <a:rPr sz="1800" b="0">
                          <a:solidFill>
                            <a:srgbClr val="203747"/>
                          </a:solidFill>
                          <a:latin typeface="DejaVu Sans"/>
                          <a:ea typeface="DejaVu Sans"/>
                          <a:cs typeface="DejaVu Sans"/>
                        </a:rPr>
                        <a:t>One declaration row</a:t>
                      </a:r>
                    </a:p>
                  </a:txBody>
                  <a:tcPr marL="91440" marR="91440" marT="45720" marB="45720">
                    <a:solidFill>
                      <a:srgbClr val="EAF1F4"/>
                    </a:solidFill>
                  </a:tcPr>
                </a:tc>
                <a:tc>
                  <a:txBody>
                    <a:bodyPr/>
                    <a:lstStyle/>
                    <a:p>
                      <a:r>
                        <a:rPr sz="1800" b="0">
                          <a:solidFill>
                            <a:srgbClr val="203747"/>
                          </a:solidFill>
                          <a:latin typeface="DejaVu Sans"/>
                          <a:ea typeface="DejaVu Sans"/>
                          <a:cs typeface="DejaVu Sans"/>
                        </a:rPr>
                        <a:t>One transition and outbox event.</a:t>
                      </a:r>
                    </a:p>
                    <a:p>
                      <a:r>
                        <a:rPr sz="1800" b="0">
                          <a:solidFill>
                            <a:srgbClr val="203747"/>
                          </a:solidFill>
                          <a:latin typeface="DejaVu Sans"/>
                          <a:ea typeface="DejaVu Sans"/>
                          <a:cs typeface="DejaVu Sans"/>
                        </a:rPr>
                        <a:t>First response 202, repeats 200.</a:t>
                      </a:r>
                    </a:p>
                  </a:txBody>
                  <a:tcPr marL="91440" marR="91440" marT="45720" marB="45720">
                    <a:solidFill>
                      <a:srgbClr val="EAF1F4"/>
                    </a:solidFill>
                  </a:tcPr>
                </a:tc>
              </a:tr>
              <a:tr h="771525">
                <a:tc>
                  <a:txBody>
                    <a:bodyPr/>
                    <a:lstStyle/>
                    <a:p>
                      <a:r>
                        <a:rPr sz="1800" b="0">
                          <a:solidFill>
                            <a:srgbClr val="203747"/>
                          </a:solidFill>
                          <a:latin typeface="DejaVu Sans"/>
                          <a:ea typeface="DejaVu Sans"/>
                          <a:cs typeface="DejaVu Sans"/>
                        </a:rPr>
                        <a:t>Deliver an event again</a:t>
                      </a:r>
                    </a:p>
                  </a:txBody>
                  <a:tcPr marL="91440" marR="91440" marT="45720" marB="45720">
                    <a:solidFill>
                      <a:srgbClr val="FFFFFF"/>
                    </a:solidFill>
                  </a:tcPr>
                </a:tc>
                <a:tc>
                  <a:txBody>
                    <a:bodyPr/>
                    <a:lstStyle/>
                    <a:p>
                      <a:r>
                        <a:rPr sz="1800" b="0">
                          <a:solidFill>
                            <a:srgbClr val="203747"/>
                          </a:solidFill>
                          <a:latin typeface="DejaVu Sans"/>
                          <a:ea typeface="DejaVu Sans"/>
                          <a:cs typeface="DejaVu Sans"/>
                        </a:rPr>
                        <a:t>Same event ID</a:t>
                      </a:r>
                    </a:p>
                  </a:txBody>
                  <a:tcPr marL="91440" marR="91440" marT="45720" marB="45720">
                    <a:solidFill>
                      <a:srgbClr val="FFFFFF"/>
                    </a:solidFill>
                  </a:tcPr>
                </a:tc>
                <a:tc>
                  <a:txBody>
                    <a:bodyPr/>
                    <a:lstStyle/>
                    <a:p>
                      <a:r>
                        <a:rPr sz="1800" b="0">
                          <a:solidFill>
                            <a:srgbClr val="203747"/>
                          </a:solidFill>
                          <a:latin typeface="DejaVu Sans"/>
                          <a:ea typeface="DejaVu Sans"/>
                          <a:cs typeface="DejaVu Sans"/>
                        </a:rPr>
                        <a:t>One committed decision and audit.</a:t>
                      </a:r>
                    </a:p>
                  </a:txBody>
                  <a:tcPr marL="91440" marR="91440" marT="45720" marB="45720">
                    <a:solidFill>
                      <a:srgbClr val="FFFFFF"/>
                    </a:solidFill>
                  </a:tcPr>
                </a:tc>
              </a:tr>
              <a:tr h="771525">
                <a:tc>
                  <a:txBody>
                    <a:bodyPr/>
                    <a:lstStyle/>
                    <a:p>
                      <a:r>
                        <a:rPr sz="1800" b="0">
                          <a:solidFill>
                            <a:srgbClr val="203747"/>
                          </a:solidFill>
                          <a:latin typeface="DejaVu Sans"/>
                          <a:ea typeface="DejaVu Sans"/>
                          <a:cs typeface="DejaVu Sans"/>
                        </a:rPr>
                        <a:t>Create and submit another ID</a:t>
                      </a:r>
                    </a:p>
                  </a:txBody>
                  <a:tcPr marL="91440" marR="91440" marT="45720" marB="45720">
                    <a:solidFill>
                      <a:srgbClr val="EAF1F4"/>
                    </a:solidFill>
                  </a:tcPr>
                </a:tc>
                <a:tc>
                  <a:txBody>
                    <a:bodyPr/>
                    <a:lstStyle/>
                    <a:p>
                      <a:r>
                        <a:rPr sz="1800" b="0">
                          <a:solidFill>
                            <a:srgbClr val="203747"/>
                          </a:solidFill>
                          <a:latin typeface="DejaVu Sans"/>
                          <a:ea typeface="DejaVu Sans"/>
                          <a:cs typeface="DejaVu Sans"/>
                        </a:rPr>
                        <a:t>New declaration row</a:t>
                      </a:r>
                    </a:p>
                  </a:txBody>
                  <a:tcPr marL="91440" marR="91440" marT="45720" marB="45720">
                    <a:solidFill>
                      <a:srgbClr val="EAF1F4"/>
                    </a:solidFill>
                  </a:tcPr>
                </a:tc>
                <a:tc>
                  <a:txBody>
                    <a:bodyPr/>
                    <a:lstStyle/>
                    <a:p>
                      <a:r>
                        <a:rPr sz="1800" b="0">
                          <a:solidFill>
                            <a:srgbClr val="203747"/>
                          </a:solidFill>
                          <a:latin typeface="DejaVu Sans"/>
                          <a:ea typeface="DejaVu Sans"/>
                          <a:cs typeface="DejaVu Sans"/>
                        </a:rPr>
                        <a:t>A separate workflow, even with identical data.</a:t>
                      </a:r>
                    </a:p>
                  </a:txBody>
                  <a:tcPr marL="91440" marR="91440" marT="45720" marB="45720">
                    <a:solidFill>
                      <a:srgbClr val="EAF1F4"/>
                    </a:solidFill>
                  </a:tcPr>
                </a:tc>
              </a:tr>
            </a:tbl>
          </a:graphicData>
        </a:graphic>
      </p:graphicFrame>
      <p:sp>
        <p:nvSpPr>
          <p:cNvPr id="5" name="">
            <a:extLst xmlns:a="http://schemas.openxmlformats.org/drawingml/2006/main">
              <a:ext uri="{FF2B5EF4-FFF2-40B4-BE49-F238E27FC236}">
                <a16:creationId xmlns:a16="http://schemas.microsoft.com/office/drawing/2014/main" id="{143F12A3-93F4-4FEF-99A1-7F007CD8390C}"/>
              </a:ext>
            </a:extLst>
          </p:cNvPr>
          <p:cNvSpPr>
            <a:spLocks xmlns:a="http://schemas.openxmlformats.org/drawingml/2006/main" noGrp="1"/>
          </p:cNvSpPr>
          <p:nvPr/>
        </p:nvSpPr>
        <p:spPr>
          <a:xfrm xmlns:a="http://schemas.openxmlformats.org/drawingml/2006/main">
            <a:off x="609600" y="55721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2616F"/>
                </a:solidFill>
                <a:latin typeface="DejaVu Sans"/>
                <a:ea typeface="DejaVu Sans"/>
                <a:cs typeface="DejaVu Sans"/>
              </a:defRPr>
            </a:defPPr>
          </a:lstStyle>
          <a:p xmlns:a="http://schemas.openxmlformats.org/drawingml/2006/main">
            <a:pPr>
              <a:buNone/>
              <a:defRPr sz="1875" b="0">
                <a:solidFill>
                  <a:srgbClr val="42616F"/>
                </a:solidFill>
                <a:latin typeface="DejaVu Sans"/>
                <a:ea typeface="DejaVu Sans"/>
                <a:cs typeface="DejaVu Sans"/>
              </a:defRPr>
            </a:pPr>
            <a:r>
              <a:rPr sz="1875" b="0">
                <a:solidFill>
                  <a:srgbClr val="42616F"/>
                </a:solidFill>
                <a:latin typeface="DejaVu Sans"/>
                <a:ea typeface="DejaVu Sans"/>
                <a:cs typeface="DejaVu Sans"/>
              </a:rPr>
              <a:t>Row locking handles concurrent updates to one ID.</a:t>
            </a:r>
          </a:p>
          <a:p xmlns:a="http://schemas.openxmlformats.org/drawingml/2006/main">
            <a:pPr>
              <a:buNone/>
              <a:defRPr sz="1875" b="0">
                <a:solidFill>
                  <a:srgbClr val="42616F"/>
                </a:solidFill>
                <a:latin typeface="DejaVu Sans"/>
                <a:ea typeface="DejaVu Sans"/>
                <a:cs typeface="DejaVu Sans"/>
              </a:defRPr>
            </a:pPr>
            <a:r>
              <a:rPr sz="1875" b="0">
                <a:solidFill>
                  <a:srgbClr val="42616F"/>
                </a:solidFill>
                <a:latin typeface="DejaVu Sans"/>
                <a:ea typeface="DejaVu Sans"/>
                <a:cs typeface="DejaVu Sans"/>
              </a:rPr>
              <a:t>The client must define business uniqueness before draft duplicate rejection.</a:t>
            </a:r>
          </a:p>
        </p:txBody>
      </p:sp>
    </p:spTree>
    <p:extLst>
      <p:ext uri="{BB962C8B-B14F-4D97-AF65-F5344CB8AC3E}">
        <p14:creationId xmlns:p14="http://schemas.microsoft.com/office/powerpoint/2010/main" val="1315941805"/>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FE920D-F742-476E-8365-457C0BDD8F15}"/>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Backend implementation differences</a:t>
            </a:r>
          </a:p>
        </p:txBody>
      </p:sp>
      <p:sp>
        <p:nvSpPr>
          <p:cNvPr id="2" name="">
            <a:extLst xmlns:a="http://schemas.openxmlformats.org/drawingml/2006/main">
              <a:ext uri="{FF2B5EF4-FFF2-40B4-BE49-F238E27FC236}">
                <a16:creationId xmlns:a16="http://schemas.microsoft.com/office/drawing/2014/main" id="{FD1E5E2C-546A-4750-8DE7-5CFC1FF97F45}"/>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8BCB50CB-3195-4531-882A-67627D230215}"/>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4</a:t>
            </a:r>
          </a:p>
        </p:txBody>
      </p:sp>
      <p:graphicFrame>
        <p:nvGraphicFramePr>
          <p:cNvPr id="4" name="">
            <a:extLst xmlns:a="http://schemas.openxmlformats.org/drawingml/2006/main">
              <a:ext uri="{FF2B5EF4-FFF2-40B4-BE49-F238E27FC236}">
                <a16:creationId xmlns:a16="http://schemas.microsoft.com/office/drawing/2014/main" id="{BC2FE6CB-9CF3-45C1-ABE2-F020ED6015C4}"/>
              </a:ext>
            </a:extLst>
          </p:cNvPr>
          <p:cNvGraphicFramePr/>
          <p:nvPr/>
        </p:nvGraphicFramePr>
        <p:xfrm>
          <a:off xmlns:a="http://schemas.openxmlformats.org/drawingml/2006/main" x="609600" y="1495425"/>
          <a:ext xmlns:a="http://schemas.openxmlformats.org/drawingml/2006/main" cx="10972800" cy="4572000"/>
        </p:xfrm>
        <a:graphic xmlns:a="http://schemas.openxmlformats.org/drawingml/2006/main">
          <a:graphicData uri="http://schemas.openxmlformats.org/drawingml/2006/table">
            <a:tbl>
              <a:tblPr/>
              <a:tblGrid>
                <a:gridCol w="2333625"/>
                <a:gridCol w="4162425"/>
                <a:gridCol w="4476750"/>
              </a:tblGrid>
              <a:tr h="653143">
                <a:tc>
                  <a:txBody>
                    <a:bodyPr/>
                    <a:lstStyle/>
                    <a:p>
                      <a:r>
                        <a:rPr sz="1725" b="1">
                          <a:solidFill>
                            <a:srgbClr val="FFFFFF"/>
                          </a:solidFill>
                          <a:latin typeface="DejaVu Sans"/>
                          <a:ea typeface="DejaVu Sans"/>
                          <a:cs typeface="DejaVu Sans"/>
                        </a:rPr>
                        <a:t>Area</a:t>
                      </a:r>
                    </a:p>
                  </a:txBody>
                  <a:tcPr marL="91440" marR="91440" marT="45720" marB="45720">
                    <a:solidFill>
                      <a:srgbClr val="112B3A"/>
                    </a:solidFill>
                  </a:tcPr>
                </a:tc>
                <a:tc>
                  <a:txBody>
                    <a:bodyPr/>
                    <a:lstStyle/>
                    <a:p>
                      <a:r>
                        <a:rPr sz="1725" b="1">
                          <a:solidFill>
                            <a:srgbClr val="FFFFFF"/>
                          </a:solidFill>
                          <a:latin typeface="DejaVu Sans"/>
                          <a:ea typeface="DejaVu Sans"/>
                          <a:cs typeface="DejaVu Sans"/>
                        </a:rPr>
                        <a:t>Maintainable Go</a:t>
                      </a:r>
                    </a:p>
                  </a:txBody>
                  <a:tcPr marL="91440" marR="91440" marT="45720" marB="45720">
                    <a:solidFill>
                      <a:srgbClr val="112B3A"/>
                    </a:solidFill>
                  </a:tcPr>
                </a:tc>
                <a:tc>
                  <a:txBody>
                    <a:bodyPr/>
                    <a:lstStyle/>
                    <a:p>
                      <a:r>
                        <a:rPr sz="1725" b="1">
                          <a:solidFill>
                            <a:srgbClr val="FFFFFF"/>
                          </a:solidFill>
                          <a:latin typeface="DejaVu Sans"/>
                          <a:ea typeface="DejaVu Sans"/>
                          <a:cs typeface="DejaVu Sans"/>
                        </a:rPr>
                        <a:t>Java edition</a:t>
                      </a:r>
                    </a:p>
                  </a:txBody>
                  <a:tcPr marL="91440" marR="91440" marT="45720" marB="45720">
                    <a:solidFill>
                      <a:srgbClr val="112B3A"/>
                    </a:solidFill>
                  </a:tcPr>
                </a:tc>
              </a:tr>
              <a:tr h="653143">
                <a:tc>
                  <a:txBody>
                    <a:bodyPr/>
                    <a:lstStyle/>
                    <a:p>
                      <a:r>
                        <a:rPr sz="1725" b="0">
                          <a:solidFill>
                            <a:srgbClr val="203747"/>
                          </a:solidFill>
                          <a:latin typeface="DejaVu Sans"/>
                          <a:ea typeface="DejaVu Sans"/>
                          <a:cs typeface="DejaVu Sans"/>
                        </a:rPr>
                        <a:t>HTTP and concurrency</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net/http and goroutines</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Spring MVC and virtual threads</a:t>
                      </a:r>
                    </a:p>
                  </a:txBody>
                  <a:tcPr marL="91440" marR="91440" marT="45720" marB="45720">
                    <a:solidFill>
                      <a:srgbClr val="FFFFFF"/>
                    </a:solidFill>
                  </a:tcPr>
                </a:tc>
              </a:tr>
              <a:tr h="653143">
                <a:tc>
                  <a:txBody>
                    <a:bodyPr/>
                    <a:lstStyle/>
                    <a:p>
                      <a:r>
                        <a:rPr sz="1725" b="0">
                          <a:solidFill>
                            <a:srgbClr val="203747"/>
                          </a:solidFill>
                          <a:latin typeface="DejaVu Sans"/>
                          <a:ea typeface="DejaVu Sans"/>
                          <a:cs typeface="DejaVu Sans"/>
                        </a:rPr>
                        <a:t>Database access</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pgx with explicit transactions</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Spring JDBC and @Transactional</a:t>
                      </a:r>
                    </a:p>
                  </a:txBody>
                  <a:tcPr marL="91440" marR="91440" marT="45720" marB="45720">
                    <a:solidFill>
                      <a:srgbClr val="EAF1F4"/>
                    </a:solidFill>
                  </a:tcPr>
                </a:tc>
              </a:tr>
              <a:tr h="653143">
                <a:tc>
                  <a:txBody>
                    <a:bodyPr/>
                    <a:lstStyle/>
                    <a:p>
                      <a:r>
                        <a:rPr sz="1725" b="0">
                          <a:solidFill>
                            <a:srgbClr val="203747"/>
                          </a:solidFill>
                          <a:latin typeface="DejaVu Sans"/>
                          <a:ea typeface="DejaVu Sans"/>
                          <a:cs typeface="DejaVu Sans"/>
                        </a:rPr>
                        <a:t>Messaging</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kafka-go producer/consumer</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Spring Kafka with completion consumer</a:t>
                      </a:r>
                    </a:p>
                  </a:txBody>
                  <a:tcPr marL="91440" marR="91440" marT="45720" marB="45720">
                    <a:solidFill>
                      <a:srgbClr val="FFFFFF"/>
                    </a:solidFill>
                  </a:tcPr>
                </a:tc>
              </a:tr>
              <a:tr h="653143">
                <a:tc>
                  <a:txBody>
                    <a:bodyPr/>
                    <a:lstStyle/>
                    <a:p>
                      <a:r>
                        <a:rPr sz="1725" b="0">
                          <a:solidFill>
                            <a:srgbClr val="203747"/>
                          </a:solidFill>
                          <a:latin typeface="DejaVu Sans"/>
                          <a:ea typeface="DejaVu Sans"/>
                          <a:cs typeface="DejaVu Sans"/>
                        </a:rPr>
                        <a:t>Schema changes</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SQL on new database initialization</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Flyway versioned migrations</a:t>
                      </a:r>
                    </a:p>
                  </a:txBody>
                  <a:tcPr marL="91440" marR="91440" marT="45720" marB="45720">
                    <a:solidFill>
                      <a:srgbClr val="EAF1F4"/>
                    </a:solidFill>
                  </a:tcPr>
                </a:tc>
              </a:tr>
              <a:tr h="653143">
                <a:tc>
                  <a:txBody>
                    <a:bodyPr/>
                    <a:lstStyle/>
                    <a:p>
                      <a:r>
                        <a:rPr sz="1725" b="0">
                          <a:solidFill>
                            <a:srgbClr val="203747"/>
                          </a:solidFill>
                          <a:latin typeface="DejaVu Sans"/>
                          <a:ea typeface="DejaVu Sans"/>
                          <a:cs typeface="DejaVu Sans"/>
                        </a:rPr>
                        <a:t>Build and runtime</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Go modules, compiled binary</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Maven, executable JAR and Java 25</a:t>
                      </a:r>
                    </a:p>
                  </a:txBody>
                  <a:tcPr marL="91440" marR="91440" marT="45720" marB="45720">
                    <a:solidFill>
                      <a:srgbClr val="FFFFFF"/>
                    </a:solidFill>
                  </a:tcPr>
                </a:tc>
              </a:tr>
              <a:tr h="653143">
                <a:tc>
                  <a:txBody>
                    <a:bodyPr/>
                    <a:lstStyle/>
                    <a:p>
                      <a:r>
                        <a:rPr sz="1725" b="0">
                          <a:solidFill>
                            <a:srgbClr val="203747"/>
                          </a:solidFill>
                          <a:latin typeface="DejaVu Sans"/>
                          <a:ea typeface="DejaVu Sans"/>
                          <a:cs typeface="DejaVu Sans"/>
                        </a:rPr>
                        <a:t>Process selection</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Environment mode in one binary</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Spring profiles in one codebase</a:t>
                      </a:r>
                    </a:p>
                  </a:txBody>
                  <a:tcPr marL="91440" marR="91440" marT="45720" marB="45720">
                    <a:solidFill>
                      <a:srgbClr val="EAF1F4"/>
                    </a:solidFill>
                  </a:tcPr>
                </a:tc>
              </a:tr>
            </a:tbl>
          </a:graphicData>
        </a:graphic>
      </p:graphicFrame>
    </p:spTree>
    <p:extLst>
      <p:ext uri="{BB962C8B-B14F-4D97-AF65-F5344CB8AC3E}">
        <p14:creationId xmlns:p14="http://schemas.microsoft.com/office/powerpoint/2010/main" val="2018067876"/>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DE9CEE-CEFE-495D-AC91-C7D302876A1B}"/>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Java notification delivery and durability</a:t>
            </a:r>
          </a:p>
        </p:txBody>
      </p:sp>
      <p:sp>
        <p:nvSpPr>
          <p:cNvPr id="2" name="">
            <a:extLst xmlns:a="http://schemas.openxmlformats.org/drawingml/2006/main">
              <a:ext uri="{FF2B5EF4-FFF2-40B4-BE49-F238E27FC236}">
                <a16:creationId xmlns:a16="http://schemas.microsoft.com/office/drawing/2014/main" id="{1F788700-7A12-4D26-A788-8AE30768583E}"/>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E87BD81C-BC5E-46C9-B3A1-8EF8C2DFC1A2}"/>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5</a:t>
            </a:r>
          </a:p>
        </p:txBody>
      </p:sp>
      <p:sp>
        <p:nvSpPr>
          <p:cNvPr id="4" name="">
            <a:extLst xmlns:a="http://schemas.openxmlformats.org/drawingml/2006/main">
              <a:ext uri="{FF2B5EF4-FFF2-40B4-BE49-F238E27FC236}">
                <a16:creationId xmlns:a16="http://schemas.microsoft.com/office/drawing/2014/main" id="{C97DC45D-C986-40AB-AFA0-754974F1B9BD}"/>
              </a:ext>
            </a:extLst>
          </p:cNvPr>
          <p:cNvSpPr>
            <a:spLocks xmlns:a="http://schemas.openxmlformats.org/drawingml/2006/main" noGrp="1"/>
          </p:cNvSpPr>
          <p:nvPr/>
        </p:nvSpPr>
        <p:spPr>
          <a:xfrm xmlns:a="http://schemas.openxmlformats.org/drawingml/2006/main">
            <a:off x="609600" y="15716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A7B86"/>
                </a:solidFill>
                <a:latin typeface="DejaVu Sans"/>
                <a:ea typeface="DejaVu Sans"/>
                <a:cs typeface="DejaVu Sans"/>
              </a:defRPr>
            </a:defPPr>
          </a:lstStyle>
          <a:p xmlns:a="http://schemas.openxmlformats.org/drawingml/2006/main">
            <a:pPr>
              <a:buNone/>
              <a:defRPr sz="2550" b="1">
                <a:solidFill>
                  <a:srgbClr val="1A7B86"/>
                </a:solidFill>
                <a:latin typeface="DejaVu Sans"/>
                <a:ea typeface="DejaVu Sans"/>
                <a:cs typeface="DejaVu Sans"/>
              </a:defRPr>
            </a:pPr>
            <a:r>
              <a:rPr sz="2550" b="1">
                <a:solidFill>
                  <a:srgbClr val="1A7B86"/>
                </a:solidFill>
                <a:latin typeface="DejaVu Sans"/>
                <a:ea typeface="DejaVu Sans"/>
                <a:cs typeface="DejaVu Sans"/>
              </a:rPr>
              <a:t>Per-replica fan-out</a:t>
            </a:r>
          </a:p>
        </p:txBody>
      </p:sp>
      <p:sp>
        <p:nvSpPr>
          <p:cNvPr id="5" name="">
            <a:extLst xmlns:a="http://schemas.openxmlformats.org/drawingml/2006/main">
              <a:ext uri="{FF2B5EF4-FFF2-40B4-BE49-F238E27FC236}">
                <a16:creationId xmlns:a16="http://schemas.microsoft.com/office/drawing/2014/main" id="{928ADE2A-17B8-4031-B228-C3DC5A73761F}"/>
              </a:ext>
            </a:extLst>
          </p:cNvPr>
          <p:cNvSpPr>
            <a:spLocks xmlns:a="http://schemas.openxmlformats.org/drawingml/2006/main" noGrp="1"/>
          </p:cNvSpPr>
          <p:nvPr/>
        </p:nvSpPr>
        <p:spPr>
          <a:xfrm xmlns:a="http://schemas.openxmlformats.org/drawingml/2006/main">
            <a:off x="609600" y="2276475"/>
            <a:ext cx="4953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747"/>
                </a:solidFill>
                <a:latin typeface="DejaVu Sans"/>
                <a:ea typeface="DejaVu Sans"/>
                <a:cs typeface="DejaVu Sans"/>
              </a:defRPr>
            </a:defPPr>
          </a:lstStyle>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Each API has its own Kafka group</a:t>
            </a:r>
          </a:p>
          <a:p xmlns:a="http://schemas.openxmlformats.org/drawingml/2006/main">
            <a:pPr>
              <a:buNone/>
              <a:defRPr sz="1950" b="0">
                <a:solidFill>
                  <a:srgbClr val="203747"/>
                </a:solidFill>
                <a:latin typeface="DejaVu Sans"/>
                <a:ea typeface="DejaVu Sans"/>
                <a:cs typeface="DejaVu Sans"/>
              </a:defRPr>
            </a:pP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Every replica receives completion events</a:t>
            </a:r>
          </a:p>
          <a:p xmlns:a="http://schemas.openxmlformats.org/drawingml/2006/main">
            <a:pPr>
              <a:buNone/>
              <a:defRPr sz="1950" b="0">
                <a:solidFill>
                  <a:srgbClr val="203747"/>
                </a:solidFill>
                <a:latin typeface="DejaVu Sans"/>
                <a:ea typeface="DejaVu Sans"/>
                <a:cs typeface="DejaVu Sans"/>
              </a:defRPr>
            </a:pP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Each replica notifies its local browsers</a:t>
            </a:r>
          </a:p>
          <a:p xmlns:a="http://schemas.openxmlformats.org/drawingml/2006/main">
            <a:pPr>
              <a:buNone/>
              <a:defRPr sz="1950" b="0">
                <a:solidFill>
                  <a:srgbClr val="203747"/>
                </a:solidFill>
                <a:latin typeface="DejaVu Sans"/>
                <a:ea typeface="DejaVu Sans"/>
                <a:cs typeface="DejaVu Sans"/>
              </a:defRPr>
            </a:pP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SSE notifications match the event owner</a:t>
            </a:r>
          </a:p>
        </p:txBody>
      </p:sp>
      <p:sp>
        <p:nvSpPr>
          <p:cNvPr id="6" name="">
            <a:extLst xmlns:a="http://schemas.openxmlformats.org/drawingml/2006/main">
              <a:ext uri="{FF2B5EF4-FFF2-40B4-BE49-F238E27FC236}">
                <a16:creationId xmlns:a16="http://schemas.microsoft.com/office/drawing/2014/main" id="{89871C56-0064-4FD9-BB27-17E7D197E8F6}"/>
              </a:ext>
            </a:extLst>
          </p:cNvPr>
          <p:cNvSpPr>
            <a:spLocks xmlns:a="http://schemas.openxmlformats.org/drawingml/2006/main" noGrp="1"/>
          </p:cNvSpPr>
          <p:nvPr/>
        </p:nvSpPr>
        <p:spPr>
          <a:xfrm xmlns:a="http://schemas.openxmlformats.org/drawingml/2006/main">
            <a:off x="6534150" y="15716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A7B86"/>
                </a:solidFill>
                <a:latin typeface="DejaVu Sans"/>
                <a:ea typeface="DejaVu Sans"/>
                <a:cs typeface="DejaVu Sans"/>
              </a:defRPr>
            </a:defPPr>
          </a:lstStyle>
          <a:p xmlns:a="http://schemas.openxmlformats.org/drawingml/2006/main">
            <a:pPr>
              <a:buNone/>
              <a:defRPr sz="2550" b="1">
                <a:solidFill>
                  <a:srgbClr val="1A7B86"/>
                </a:solidFill>
                <a:latin typeface="DejaVu Sans"/>
                <a:ea typeface="DejaVu Sans"/>
                <a:cs typeface="DejaVu Sans"/>
              </a:defRPr>
            </a:pPr>
            <a:r>
              <a:rPr sz="2550" b="1">
                <a:solidFill>
                  <a:srgbClr val="1A7B86"/>
                </a:solidFill>
                <a:latin typeface="DejaVu Sans"/>
                <a:ea typeface="DejaVu Sans"/>
                <a:cs typeface="DejaVu Sans"/>
              </a:rPr>
              <a:t>Durability and recovery</a:t>
            </a:r>
          </a:p>
        </p:txBody>
      </p:sp>
      <p:sp>
        <p:nvSpPr>
          <p:cNvPr id="7" name="">
            <a:extLst xmlns:a="http://schemas.openxmlformats.org/drawingml/2006/main">
              <a:ext uri="{FF2B5EF4-FFF2-40B4-BE49-F238E27FC236}">
                <a16:creationId xmlns:a16="http://schemas.microsoft.com/office/drawing/2014/main" id="{2B2C3BF6-1D3A-4912-BD03-7DA586BA4537}"/>
              </a:ext>
            </a:extLst>
          </p:cNvPr>
          <p:cNvSpPr>
            <a:spLocks xmlns:a="http://schemas.openxmlformats.org/drawingml/2006/main" noGrp="1"/>
          </p:cNvSpPr>
          <p:nvPr/>
        </p:nvSpPr>
        <p:spPr>
          <a:xfrm xmlns:a="http://schemas.openxmlformats.org/drawingml/2006/main">
            <a:off x="6534150" y="2276475"/>
            <a:ext cx="5048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747"/>
                </a:solidFill>
                <a:latin typeface="DejaVu Sans"/>
                <a:ea typeface="DejaVu Sans"/>
                <a:cs typeface="DejaVu Sans"/>
              </a:defRPr>
            </a:defPPr>
          </a:lstStyle>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Worker commits decision and outbox</a:t>
            </a:r>
          </a:p>
          <a:p xmlns:a="http://schemas.openxmlformats.org/drawingml/2006/main">
            <a:pPr>
              <a:buNone/>
              <a:defRPr sz="1950" b="0">
                <a:solidFill>
                  <a:srgbClr val="203747"/>
                </a:solidFill>
                <a:latin typeface="DejaVu Sans"/>
                <a:ea typeface="DejaVu Sans"/>
                <a:cs typeface="DejaVu Sans"/>
              </a:defRPr>
            </a:pP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Publisher waits for Kafka acknowledgment</a:t>
            </a:r>
          </a:p>
          <a:p xmlns:a="http://schemas.openxmlformats.org/drawingml/2006/main">
            <a:pPr>
              <a:buNone/>
              <a:defRPr sz="1950" b="0">
                <a:solidFill>
                  <a:srgbClr val="203747"/>
                </a:solidFill>
                <a:latin typeface="DejaVu Sans"/>
                <a:ea typeface="DejaVu Sans"/>
                <a:cs typeface="DejaVu Sans"/>
              </a:defRPr>
            </a:pP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React refreshes when SSE signals a change</a:t>
            </a:r>
          </a:p>
          <a:p xmlns:a="http://schemas.openxmlformats.org/drawingml/2006/main">
            <a:pPr>
              <a:buNone/>
              <a:defRPr sz="1950" b="0">
                <a:solidFill>
                  <a:srgbClr val="203747"/>
                </a:solidFill>
                <a:latin typeface="DejaVu Sans"/>
                <a:ea typeface="DejaVu Sans"/>
                <a:cs typeface="DejaVu Sans"/>
              </a:defRPr>
            </a:pP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Reconnect refreshes the database snapshot</a:t>
            </a:r>
          </a:p>
        </p:txBody>
      </p:sp>
      <p:sp>
        <p:nvSpPr>
          <p:cNvPr id="8" name="">
            <a:extLst xmlns:a="http://schemas.openxmlformats.org/drawingml/2006/main">
              <a:ext uri="{FF2B5EF4-FFF2-40B4-BE49-F238E27FC236}">
                <a16:creationId xmlns:a16="http://schemas.microsoft.com/office/drawing/2014/main" id="{EB78D6B2-687A-40AD-A2A3-CFBEFD59EDDE}"/>
              </a:ext>
            </a:extLst>
          </p:cNvPr>
          <p:cNvSpPr>
            <a:spLocks xmlns:a="http://schemas.openxmlformats.org/drawingml/2006/main" noGrp="1"/>
          </p:cNvSpPr>
          <p:nvPr/>
        </p:nvSpPr>
        <p:spPr>
          <a:xfrm xmlns:a="http://schemas.openxmlformats.org/drawingml/2006/main">
            <a:off x="609600" y="5800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2616F"/>
                </a:solidFill>
                <a:latin typeface="DejaVu Sans"/>
                <a:ea typeface="DejaVu Sans"/>
                <a:cs typeface="DejaVu Sans"/>
              </a:defRPr>
            </a:defPPr>
          </a:lstStyle>
          <a:p xmlns:a="http://schemas.openxmlformats.org/drawingml/2006/main">
            <a:pPr>
              <a:buNone/>
              <a:defRPr sz="1875" b="0">
                <a:solidFill>
                  <a:srgbClr val="42616F"/>
                </a:solidFill>
                <a:latin typeface="DejaVu Sans"/>
                <a:ea typeface="DejaVu Sans"/>
                <a:cs typeface="DejaVu Sans"/>
              </a:defRPr>
            </a:pPr>
            <a:r>
              <a:rPr sz="1875" b="0">
                <a:solidFill>
                  <a:srgbClr val="42616F"/>
                </a:solidFill>
                <a:latin typeface="DejaVu Sans"/>
                <a:ea typeface="DejaVu Sans"/>
                <a:cs typeface="DejaVu Sans"/>
              </a:rPr>
              <a:t>One SSE connection per portal session. No timed browser status requests.</a:t>
            </a:r>
          </a:p>
        </p:txBody>
      </p:sp>
    </p:spTree>
    <p:extLst>
      <p:ext uri="{BB962C8B-B14F-4D97-AF65-F5344CB8AC3E}">
        <p14:creationId xmlns:p14="http://schemas.microsoft.com/office/powerpoint/2010/main" val="2030603165"/>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644036-CB61-4AED-9004-B27C40414C91}"/>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Fit to the supplied requisition</a:t>
            </a:r>
          </a:p>
        </p:txBody>
      </p:sp>
      <p:sp>
        <p:nvSpPr>
          <p:cNvPr id="2" name="">
            <a:extLst xmlns:a="http://schemas.openxmlformats.org/drawingml/2006/main">
              <a:ext uri="{FF2B5EF4-FFF2-40B4-BE49-F238E27FC236}">
                <a16:creationId xmlns:a16="http://schemas.microsoft.com/office/drawing/2014/main" id="{77E5887C-2E89-4DFF-9F83-B189C7977629}"/>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A76870B0-86BD-462F-84CF-A0CD5F87A32E}"/>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6</a:t>
            </a:r>
          </a:p>
        </p:txBody>
      </p:sp>
      <p:graphicFrame>
        <p:nvGraphicFramePr>
          <p:cNvPr id="4" name="">
            <a:extLst xmlns:a="http://schemas.openxmlformats.org/drawingml/2006/main">
              <a:ext uri="{FF2B5EF4-FFF2-40B4-BE49-F238E27FC236}">
                <a16:creationId xmlns:a16="http://schemas.microsoft.com/office/drawing/2014/main" id="{E2ED8B92-6C85-4592-9E65-0649035A18E3}"/>
              </a:ext>
            </a:extLst>
          </p:cNvPr>
          <p:cNvGraphicFramePr/>
          <p:nvPr/>
        </p:nvGraphicFramePr>
        <p:xfrm>
          <a:off xmlns:a="http://schemas.openxmlformats.org/drawingml/2006/main" x="609600" y="1495425"/>
          <a:ext xmlns:a="http://schemas.openxmlformats.org/drawingml/2006/main" cx="10972800" cy="4000500"/>
        </p:xfrm>
        <a:graphic xmlns:a="http://schemas.openxmlformats.org/drawingml/2006/main">
          <a:graphicData uri="http://schemas.openxmlformats.org/drawingml/2006/table">
            <a:tbl>
              <a:tblPr/>
              <a:tblGrid>
                <a:gridCol w="3619500"/>
                <a:gridCol w="3676650"/>
                <a:gridCol w="3676650"/>
              </a:tblGrid>
              <a:tr h="666750">
                <a:tc>
                  <a:txBody>
                    <a:bodyPr/>
                    <a:lstStyle/>
                    <a:p>
                      <a:r>
                        <a:rPr sz="1725" b="1">
                          <a:solidFill>
                            <a:srgbClr val="FFFFFF"/>
                          </a:solidFill>
                          <a:latin typeface="DejaVu Sans"/>
                          <a:ea typeface="DejaVu Sans"/>
                          <a:cs typeface="DejaVu Sans"/>
                        </a:rPr>
                        <a:t>Capability</a:t>
                      </a:r>
                    </a:p>
                  </a:txBody>
                  <a:tcPr marL="91440" marR="91440" marT="45720" marB="45720">
                    <a:solidFill>
                      <a:srgbClr val="112B3A"/>
                    </a:solidFill>
                  </a:tcPr>
                </a:tc>
                <a:tc>
                  <a:txBody>
                    <a:bodyPr/>
                    <a:lstStyle/>
                    <a:p>
                      <a:r>
                        <a:rPr sz="1725" b="1">
                          <a:solidFill>
                            <a:srgbClr val="FFFFFF"/>
                          </a:solidFill>
                          <a:latin typeface="DejaVu Sans"/>
                          <a:ea typeface="DejaVu Sans"/>
                          <a:cs typeface="DejaVu Sans"/>
                        </a:rPr>
                        <a:t>Go demo</a:t>
                      </a:r>
                    </a:p>
                  </a:txBody>
                  <a:tcPr marL="91440" marR="91440" marT="45720" marB="45720">
                    <a:solidFill>
                      <a:srgbClr val="112B3A"/>
                    </a:solidFill>
                  </a:tcPr>
                </a:tc>
                <a:tc>
                  <a:txBody>
                    <a:bodyPr/>
                    <a:lstStyle/>
                    <a:p>
                      <a:r>
                        <a:rPr sz="1725" b="1">
                          <a:solidFill>
                            <a:srgbClr val="FFFFFF"/>
                          </a:solidFill>
                          <a:latin typeface="DejaVu Sans"/>
                          <a:ea typeface="DejaVu Sans"/>
                          <a:cs typeface="DejaVu Sans"/>
                        </a:rPr>
                        <a:t>Java demo</a:t>
                      </a:r>
                    </a:p>
                  </a:txBody>
                  <a:tcPr marL="91440" marR="91440" marT="45720" marB="45720">
                    <a:solidFill>
                      <a:srgbClr val="112B3A"/>
                    </a:solidFill>
                  </a:tcPr>
                </a:tc>
              </a:tr>
              <a:tr h="666750">
                <a:tc>
                  <a:txBody>
                    <a:bodyPr/>
                    <a:lstStyle/>
                    <a:p>
                      <a:r>
                        <a:rPr sz="1725" b="0">
                          <a:solidFill>
                            <a:srgbClr val="203747"/>
                          </a:solidFill>
                          <a:latin typeface="DejaVu Sans"/>
                          <a:ea typeface="DejaVu Sans"/>
                          <a:cs typeface="DejaVu Sans"/>
                        </a:rPr>
                        <a:t>Java and Spring Boot</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Architecture example only</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Direct implementation evidence</a:t>
                      </a:r>
                    </a:p>
                  </a:txBody>
                  <a:tcPr marL="91440" marR="91440" marT="45720" marB="45720">
                    <a:solidFill>
                      <a:srgbClr val="FFFFFF"/>
                    </a:solidFill>
                  </a:tcPr>
                </a:tc>
              </a:tr>
              <a:tr h="666750">
                <a:tc>
                  <a:txBody>
                    <a:bodyPr/>
                    <a:lstStyle/>
                    <a:p>
                      <a:r>
                        <a:rPr sz="1725" b="0">
                          <a:solidFill>
                            <a:srgbClr val="203747"/>
                          </a:solidFill>
                          <a:latin typeface="DejaVu Sans"/>
                          <a:ea typeface="DejaVu Sans"/>
                          <a:cs typeface="DejaVu Sans"/>
                        </a:rPr>
                        <a:t>SQL and transactions</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PostgreSQL, locks and pgx</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PostgreSQL, JDBC and Flyway</a:t>
                      </a:r>
                    </a:p>
                  </a:txBody>
                  <a:tcPr marL="91440" marR="91440" marT="45720" marB="45720">
                    <a:solidFill>
                      <a:srgbClr val="EAF1F4"/>
                    </a:solidFill>
                  </a:tcPr>
                </a:tc>
              </a:tr>
              <a:tr h="666750">
                <a:tc>
                  <a:txBody>
                    <a:bodyPr/>
                    <a:lstStyle/>
                    <a:p>
                      <a:r>
                        <a:rPr sz="1725" b="0">
                          <a:solidFill>
                            <a:srgbClr val="203747"/>
                          </a:solidFill>
                          <a:latin typeface="DejaVu Sans"/>
                          <a:ea typeface="DejaVu Sans"/>
                          <a:cs typeface="DejaVu Sans"/>
                        </a:rPr>
                        <a:t>Kafka integration</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kafka-go with event deduplication</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Submission and completion events</a:t>
                      </a:r>
                    </a:p>
                  </a:txBody>
                  <a:tcPr marL="91440" marR="91440" marT="45720" marB="45720">
                    <a:solidFill>
                      <a:srgbClr val="FFFFFF"/>
                    </a:solidFill>
                  </a:tcPr>
                </a:tc>
              </a:tr>
              <a:tr h="666750">
                <a:tc>
                  <a:txBody>
                    <a:bodyPr/>
                    <a:lstStyle/>
                    <a:p>
                      <a:r>
                        <a:rPr sz="1725" b="0">
                          <a:solidFill>
                            <a:srgbClr val="203747"/>
                          </a:solidFill>
                          <a:latin typeface="DejaVu Sans"/>
                          <a:ea typeface="DejaVu Sans"/>
                          <a:cs typeface="DejaVu Sans"/>
                        </a:rPr>
                        <a:t>React and API documentation</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React/TypeScript and Swagger UI</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React with SSE and Swagger UI</a:t>
                      </a:r>
                    </a:p>
                  </a:txBody>
                  <a:tcPr marL="91440" marR="91440" marT="45720" marB="45720">
                    <a:solidFill>
                      <a:srgbClr val="EAF1F4"/>
                    </a:solidFill>
                  </a:tcPr>
                </a:tc>
              </a:tr>
              <a:tr h="666750">
                <a:tc>
                  <a:txBody>
                    <a:bodyPr/>
                    <a:lstStyle/>
                    <a:p>
                      <a:r>
                        <a:rPr sz="1725" b="0">
                          <a:solidFill>
                            <a:srgbClr val="203747"/>
                          </a:solidFill>
                          <a:latin typeface="DejaVu Sans"/>
                          <a:ea typeface="DejaVu Sans"/>
                          <a:cs typeface="DejaVu Sans"/>
                        </a:rPr>
                        <a:t>Tests, Docker and CI</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Configured Go/React checks</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Configured Java/React checks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74B5A0D-87F1-4FB0-949F-67AEF3EE70E2}"/>
              </a:ext>
            </a:extLst>
          </p:cNvPr>
          <p:cNvSpPr>
            <a:spLocks xmlns:a="http://schemas.openxmlformats.org/drawingml/2006/main" noGrp="1"/>
          </p:cNvSpPr>
          <p:nvPr/>
        </p:nvSpPr>
        <p:spPr>
          <a:xfrm xmlns:a="http://schemas.openxmlformats.org/drawingml/2006/main">
            <a:off x="609600" y="5648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2616F"/>
                </a:solidFill>
                <a:latin typeface="DejaVu Sans"/>
                <a:ea typeface="DejaVu Sans"/>
                <a:cs typeface="DejaVu Sans"/>
              </a:defRPr>
            </a:defPPr>
          </a:lstStyle>
          <a:p xmlns:a="http://schemas.openxmlformats.org/drawingml/2006/main">
            <a:pPr>
              <a:buNone/>
              <a:defRPr sz="1725" b="0">
                <a:solidFill>
                  <a:srgbClr val="42616F"/>
                </a:solidFill>
                <a:latin typeface="DejaVu Sans"/>
                <a:ea typeface="DejaVu Sans"/>
                <a:cs typeface="DejaVu Sans"/>
              </a:defRPr>
            </a:pPr>
            <a:r>
              <a:rPr sz="1725" b="0">
                <a:solidFill>
                  <a:srgbClr val="42616F"/>
                </a:solidFill>
                <a:latin typeface="DejaVu Sans"/>
                <a:ea typeface="DejaVu Sans"/>
                <a:cs typeface="DejaVu Sans"/>
              </a:rPr>
              <a:t>Partial coverage: JMS, generated API artifacts, enterprise API catalogs,</a:t>
            </a:r>
          </a:p>
          <a:p xmlns:a="http://schemas.openxmlformats.org/drawingml/2006/main">
            <a:pPr>
              <a:buNone/>
              <a:defRPr sz="1725" b="0">
                <a:solidFill>
                  <a:srgbClr val="42616F"/>
                </a:solidFill>
                <a:latin typeface="DejaVu Sans"/>
                <a:ea typeface="DejaVu Sans"/>
                <a:cs typeface="DejaVu Sans"/>
              </a:defRPr>
            </a:pPr>
            <a:r>
              <a:rPr sz="1725" b="0">
                <a:solidFill>
                  <a:srgbClr val="42616F"/>
                </a:solidFill>
                <a:latin typeface="DejaVu Sans"/>
                <a:ea typeface="DejaVu Sans"/>
                <a:cs typeface="DejaVu Sans"/>
              </a:rPr>
              <a:t>AI test generation and full Kubernetes operation remain outside the demos.</a:t>
            </a:r>
          </a:p>
        </p:txBody>
      </p:sp>
    </p:spTree>
    <p:extLst>
      <p:ext uri="{BB962C8B-B14F-4D97-AF65-F5344CB8AC3E}">
        <p14:creationId xmlns:p14="http://schemas.microsoft.com/office/powerpoint/2010/main" val="1903931615"/>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7AF18F-1953-4F20-B6EF-A2F871886E77}"/>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Production choice for this client</a:t>
            </a:r>
          </a:p>
        </p:txBody>
      </p:sp>
      <p:sp>
        <p:nvSpPr>
          <p:cNvPr id="2" name="">
            <a:extLst xmlns:a="http://schemas.openxmlformats.org/drawingml/2006/main">
              <a:ext uri="{FF2B5EF4-FFF2-40B4-BE49-F238E27FC236}">
                <a16:creationId xmlns:a16="http://schemas.microsoft.com/office/drawing/2014/main" id="{51C42B35-A89C-4929-8054-360D2AFEFA88}"/>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5C956298-E710-4F34-8781-B8C4FE86FE91}"/>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7</a:t>
            </a:r>
          </a:p>
        </p:txBody>
      </p:sp>
      <p:sp>
        <p:nvSpPr>
          <p:cNvPr id="4" name="">
            <a:extLst xmlns:a="http://schemas.openxmlformats.org/drawingml/2006/main">
              <a:ext uri="{FF2B5EF4-FFF2-40B4-BE49-F238E27FC236}">
                <a16:creationId xmlns:a16="http://schemas.microsoft.com/office/drawing/2014/main" id="{F7E05E66-51AE-4E26-AB7B-DE76ECC861F3}"/>
              </a:ext>
            </a:extLst>
          </p:cNvPr>
          <p:cNvSpPr>
            <a:spLocks xmlns:a="http://schemas.openxmlformats.org/drawingml/2006/main" noGrp="1"/>
          </p:cNvSpPr>
          <p:nvPr/>
        </p:nvSpPr>
        <p:spPr>
          <a:xfrm xmlns:a="http://schemas.openxmlformats.org/drawingml/2006/main">
            <a:off x="609600" y="15430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2B3A"/>
                </a:solidFill>
                <a:latin typeface="DejaVu Sans"/>
                <a:ea typeface="DejaVu Sans"/>
                <a:cs typeface="DejaVu Sans"/>
              </a:defRPr>
            </a:defPPr>
          </a:lstStyle>
          <a:p xmlns:a="http://schemas.openxmlformats.org/drawingml/2006/main">
            <a:pPr>
              <a:buNone/>
              <a:defRPr sz="2250" b="1">
                <a:solidFill>
                  <a:srgbClr val="112B3A"/>
                </a:solidFill>
                <a:latin typeface="DejaVu Sans"/>
                <a:ea typeface="DejaVu Sans"/>
                <a:cs typeface="DejaVu Sans"/>
              </a:defRPr>
            </a:pPr>
            <a:r>
              <a:rPr sz="2250" b="1">
                <a:solidFill>
                  <a:srgbClr val="112B3A"/>
                </a:solidFill>
                <a:latin typeface="DejaVu Sans"/>
                <a:ea typeface="DejaVu Sans"/>
                <a:cs typeface="DejaVu Sans"/>
              </a:rPr>
              <a:t>Java is the stronger handoff for this requisition</a:t>
            </a:r>
          </a:p>
        </p:txBody>
      </p:sp>
      <p:sp>
        <p:nvSpPr>
          <p:cNvPr id="5" name="">
            <a:extLst xmlns:a="http://schemas.openxmlformats.org/drawingml/2006/main">
              <a:ext uri="{FF2B5EF4-FFF2-40B4-BE49-F238E27FC236}">
                <a16:creationId xmlns:a16="http://schemas.microsoft.com/office/drawing/2014/main" id="{61ACD508-EA7C-43E9-9DBD-87702FE37879}"/>
              </a:ext>
            </a:extLst>
          </p:cNvPr>
          <p:cNvSpPr>
            <a:spLocks xmlns:a="http://schemas.openxmlformats.org/drawingml/2006/main" noGrp="1"/>
          </p:cNvSpPr>
          <p:nvPr/>
        </p:nvSpPr>
        <p:spPr>
          <a:xfrm xmlns:a="http://schemas.openxmlformats.org/drawingml/2006/main">
            <a:off x="609600" y="20574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747"/>
                </a:solidFill>
                <a:latin typeface="DejaVu Sans"/>
                <a:ea typeface="DejaVu Sans"/>
                <a:cs typeface="DejaVu Sans"/>
              </a:defRPr>
            </a:defPPr>
          </a:lstStyle>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It directly demonstrates the requested Spring ecosystem.</a:t>
            </a: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MVC and JDBC keep the workflow imperative and readable.</a:t>
            </a:r>
          </a:p>
        </p:txBody>
      </p:sp>
      <p:sp>
        <p:nvSpPr>
          <p:cNvPr id="6" name="">
            <a:extLst xmlns:a="http://schemas.openxmlformats.org/drawingml/2006/main">
              <a:ext uri="{FF2B5EF4-FFF2-40B4-BE49-F238E27FC236}">
                <a16:creationId xmlns:a16="http://schemas.microsoft.com/office/drawing/2014/main" id="{E8F40F17-2990-4E23-82E4-CF801CF9BF8B}"/>
              </a:ext>
            </a:extLst>
          </p:cNvPr>
          <p:cNvSpPr>
            <a:spLocks xmlns:a="http://schemas.openxmlformats.org/drawingml/2006/main" noGrp="1"/>
          </p:cNvSpPr>
          <p:nvPr/>
        </p:nvSpPr>
        <p:spPr>
          <a:xfrm xmlns:a="http://schemas.openxmlformats.org/drawingml/2006/main">
            <a:off x="609600" y="3133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2B3A"/>
                </a:solidFill>
                <a:latin typeface="DejaVu Sans"/>
                <a:ea typeface="DejaVu Sans"/>
                <a:cs typeface="DejaVu Sans"/>
              </a:defRPr>
            </a:defPPr>
          </a:lstStyle>
          <a:p xmlns:a="http://schemas.openxmlformats.org/drawingml/2006/main">
            <a:pPr>
              <a:buNone/>
              <a:defRPr sz="2250" b="1">
                <a:solidFill>
                  <a:srgbClr val="112B3A"/>
                </a:solidFill>
                <a:latin typeface="DejaVu Sans"/>
                <a:ea typeface="DejaVu Sans"/>
                <a:cs typeface="DejaVu Sans"/>
              </a:defRPr>
            </a:pPr>
            <a:r>
              <a:rPr sz="2250" b="1">
                <a:solidFill>
                  <a:srgbClr val="112B3A"/>
                </a:solidFill>
                <a:latin typeface="DejaVu Sans"/>
                <a:ea typeface="DejaVu Sans"/>
                <a:cs typeface="DejaVu Sans"/>
              </a:rPr>
              <a:t>Go remains a useful engineering comparison</a:t>
            </a:r>
          </a:p>
        </p:txBody>
      </p:sp>
      <p:sp>
        <p:nvSpPr>
          <p:cNvPr id="7" name="">
            <a:extLst xmlns:a="http://schemas.openxmlformats.org/drawingml/2006/main">
              <a:ext uri="{FF2B5EF4-FFF2-40B4-BE49-F238E27FC236}">
                <a16:creationId xmlns:a16="http://schemas.microsoft.com/office/drawing/2014/main" id="{D7AFF38E-0A6A-4F92-8E86-6AC363648CD5}"/>
              </a:ext>
            </a:extLst>
          </p:cNvPr>
          <p:cNvSpPr>
            <a:spLocks xmlns:a="http://schemas.openxmlformats.org/drawingml/2006/main" noGrp="1"/>
          </p:cNvSpPr>
          <p:nvPr/>
        </p:nvSpPr>
        <p:spPr>
          <a:xfrm xmlns:a="http://schemas.openxmlformats.org/drawingml/2006/main">
            <a:off x="609600" y="36480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747"/>
                </a:solidFill>
                <a:latin typeface="DejaVu Sans"/>
                <a:ea typeface="DejaVu Sans"/>
                <a:cs typeface="DejaVu Sans"/>
              </a:defRPr>
            </a:defPPr>
          </a:lstStyle>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It packages the services as a compiled binary with explicit control flow.</a:t>
            </a: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Its fit depends on the client’s approved stack and team experience.</a:t>
            </a:r>
          </a:p>
        </p:txBody>
      </p:sp>
      <p:sp>
        <p:nvSpPr>
          <p:cNvPr id="8" name="">
            <a:extLst xmlns:a="http://schemas.openxmlformats.org/drawingml/2006/main">
              <a:ext uri="{FF2B5EF4-FFF2-40B4-BE49-F238E27FC236}">
                <a16:creationId xmlns:a16="http://schemas.microsoft.com/office/drawing/2014/main" id="{D598B219-6A3A-4173-83EB-4904BFCAEEBB}"/>
              </a:ext>
            </a:extLst>
          </p:cNvPr>
          <p:cNvSpPr>
            <a:spLocks xmlns:a="http://schemas.openxmlformats.org/drawingml/2006/main" noGrp="1"/>
          </p:cNvSpPr>
          <p:nvPr/>
        </p:nvSpPr>
        <p:spPr>
          <a:xfrm xmlns:a="http://schemas.openxmlformats.org/drawingml/2006/main">
            <a:off x="609600" y="47244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12B3A"/>
                </a:solidFill>
                <a:latin typeface="DejaVu Sans"/>
                <a:ea typeface="DejaVu Sans"/>
                <a:cs typeface="DejaVu Sans"/>
              </a:defRPr>
            </a:defPPr>
          </a:lstStyle>
          <a:p xmlns:a="http://schemas.openxmlformats.org/drawingml/2006/main">
            <a:pPr>
              <a:buNone/>
              <a:defRPr sz="2250" b="1">
                <a:solidFill>
                  <a:srgbClr val="112B3A"/>
                </a:solidFill>
                <a:latin typeface="DejaVu Sans"/>
                <a:ea typeface="DejaVu Sans"/>
                <a:cs typeface="DejaVu Sans"/>
              </a:defRPr>
            </a:pPr>
            <a:r>
              <a:rPr sz="2250" b="1">
                <a:solidFill>
                  <a:srgbClr val="112B3A"/>
                </a:solidFill>
                <a:latin typeface="DejaVu Sans"/>
                <a:ea typeface="DejaVu Sans"/>
                <a:cs typeface="DejaVu Sans"/>
              </a:rPr>
              <a:t>The demos do not establish a performance winner</a:t>
            </a:r>
          </a:p>
        </p:txBody>
      </p:sp>
      <p:sp>
        <p:nvSpPr>
          <p:cNvPr id="9" name="">
            <a:extLst xmlns:a="http://schemas.openxmlformats.org/drawingml/2006/main">
              <a:ext uri="{FF2B5EF4-FFF2-40B4-BE49-F238E27FC236}">
                <a16:creationId xmlns:a16="http://schemas.microsoft.com/office/drawing/2014/main" id="{DFA7981C-6248-4935-AD05-0773FBB73A9E}"/>
              </a:ext>
            </a:extLst>
          </p:cNvPr>
          <p:cNvSpPr>
            <a:spLocks xmlns:a="http://schemas.openxmlformats.org/drawingml/2006/main" noGrp="1"/>
          </p:cNvSpPr>
          <p:nvPr/>
        </p:nvSpPr>
        <p:spPr>
          <a:xfrm xmlns:a="http://schemas.openxmlformats.org/drawingml/2006/main">
            <a:off x="609600" y="52387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747"/>
                </a:solidFill>
                <a:latin typeface="DejaVu Sans"/>
                <a:ea typeface="DejaVu Sans"/>
                <a:cs typeface="DejaVu Sans"/>
              </a:defRPr>
            </a:defPPr>
          </a:lstStyle>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No comparable throughput, latency, memory or startup benchmark exists.</a:t>
            </a: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Measure the same workload before making a speed or cost claim.</a:t>
            </a:r>
          </a:p>
        </p:txBody>
      </p:sp>
    </p:spTree>
    <p:extLst>
      <p:ext uri="{BB962C8B-B14F-4D97-AF65-F5344CB8AC3E}">
        <p14:creationId xmlns:p14="http://schemas.microsoft.com/office/powerpoint/2010/main" val="679123263"/>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B17855-4ACA-4FE2-AE66-98858128362A}"/>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Evidence and verification limits</a:t>
            </a:r>
          </a:p>
        </p:txBody>
      </p:sp>
      <p:sp>
        <p:nvSpPr>
          <p:cNvPr id="2" name="">
            <a:extLst xmlns:a="http://schemas.openxmlformats.org/drawingml/2006/main">
              <a:ext uri="{FF2B5EF4-FFF2-40B4-BE49-F238E27FC236}">
                <a16:creationId xmlns:a16="http://schemas.microsoft.com/office/drawing/2014/main" id="{8FC78897-06D9-49E0-B487-2E404CEF45CC}"/>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47EA1DD3-F4F1-4AD0-996B-D1B804991266}"/>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8</a:t>
            </a:r>
          </a:p>
        </p:txBody>
      </p:sp>
      <p:graphicFrame>
        <p:nvGraphicFramePr>
          <p:cNvPr id="4" name="">
            <a:extLst xmlns:a="http://schemas.openxmlformats.org/drawingml/2006/main">
              <a:ext uri="{FF2B5EF4-FFF2-40B4-BE49-F238E27FC236}">
                <a16:creationId xmlns:a16="http://schemas.microsoft.com/office/drawing/2014/main" id="{47F0CB98-7865-4C75-925A-C99DAED6B394}"/>
              </a:ext>
            </a:extLst>
          </p:cNvPr>
          <p:cNvGraphicFramePr/>
          <p:nvPr/>
        </p:nvGraphicFramePr>
        <p:xfrm>
          <a:off xmlns:a="http://schemas.openxmlformats.org/drawingml/2006/main" x="609600" y="1495425"/>
          <a:ext xmlns:a="http://schemas.openxmlformats.org/drawingml/2006/main" cx="10972800" cy="4000500"/>
        </p:xfrm>
        <a:graphic xmlns:a="http://schemas.openxmlformats.org/drawingml/2006/main">
          <a:graphicData uri="http://schemas.openxmlformats.org/drawingml/2006/table">
            <a:tbl>
              <a:tblPr/>
              <a:tblGrid>
                <a:gridCol w="3143250"/>
                <a:gridCol w="3914775"/>
                <a:gridCol w="3914775"/>
              </a:tblGrid>
              <a:tr h="666750">
                <a:tc>
                  <a:txBody>
                    <a:bodyPr/>
                    <a:lstStyle/>
                    <a:p>
                      <a:r>
                        <a:rPr sz="1725" b="1">
                          <a:solidFill>
                            <a:srgbClr val="FFFFFF"/>
                          </a:solidFill>
                          <a:latin typeface="DejaVu Sans"/>
                          <a:ea typeface="DejaVu Sans"/>
                          <a:cs typeface="DejaVu Sans"/>
                        </a:rPr>
                        <a:t>Area</a:t>
                      </a:r>
                    </a:p>
                  </a:txBody>
                  <a:tcPr marL="91440" marR="91440" marT="45720" marB="45720">
                    <a:solidFill>
                      <a:srgbClr val="112B3A"/>
                    </a:solidFill>
                  </a:tcPr>
                </a:tc>
                <a:tc>
                  <a:txBody>
                    <a:bodyPr/>
                    <a:lstStyle/>
                    <a:p>
                      <a:r>
                        <a:rPr sz="1725" b="1">
                          <a:solidFill>
                            <a:srgbClr val="FFFFFF"/>
                          </a:solidFill>
                          <a:latin typeface="DejaVu Sans"/>
                          <a:ea typeface="DejaVu Sans"/>
                          <a:cs typeface="DejaVu Sans"/>
                        </a:rPr>
                        <a:t>Go evidence</a:t>
                      </a:r>
                    </a:p>
                  </a:txBody>
                  <a:tcPr marL="91440" marR="91440" marT="45720" marB="45720">
                    <a:solidFill>
                      <a:srgbClr val="112B3A"/>
                    </a:solidFill>
                  </a:tcPr>
                </a:tc>
                <a:tc>
                  <a:txBody>
                    <a:bodyPr/>
                    <a:lstStyle/>
                    <a:p>
                      <a:r>
                        <a:rPr sz="1725" b="1">
                          <a:solidFill>
                            <a:srgbClr val="FFFFFF"/>
                          </a:solidFill>
                          <a:latin typeface="DejaVu Sans"/>
                          <a:ea typeface="DejaVu Sans"/>
                          <a:cs typeface="DejaVu Sans"/>
                        </a:rPr>
                        <a:t>Java evidence</a:t>
                      </a:r>
                    </a:p>
                  </a:txBody>
                  <a:tcPr marL="91440" marR="91440" marT="45720" marB="45720">
                    <a:solidFill>
                      <a:srgbClr val="112B3A"/>
                    </a:solidFill>
                  </a:tcPr>
                </a:tc>
              </a:tr>
              <a:tr h="666750">
                <a:tc>
                  <a:txBody>
                    <a:bodyPr/>
                    <a:lstStyle/>
                    <a:p>
                      <a:r>
                        <a:rPr sz="1725" b="0">
                          <a:solidFill>
                            <a:srgbClr val="203747"/>
                          </a:solidFill>
                          <a:latin typeface="DejaVu Sans"/>
                          <a:ea typeface="DejaVu Sans"/>
                          <a:cs typeface="DejaVu Sans"/>
                        </a:rPr>
                        <a:t>Backend checks</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Compilation, unit tests, race and vet</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15 tests, compilation and packaging</a:t>
                      </a:r>
                    </a:p>
                  </a:txBody>
                  <a:tcPr marL="91440" marR="91440" marT="45720" marB="45720">
                    <a:solidFill>
                      <a:srgbClr val="FFFFFF"/>
                    </a:solidFill>
                  </a:tcPr>
                </a:tc>
              </a:tr>
              <a:tr h="666750">
                <a:tc>
                  <a:txBody>
                    <a:bodyPr/>
                    <a:lstStyle/>
                    <a:p>
                      <a:r>
                        <a:rPr sz="1725" b="0">
                          <a:solidFill>
                            <a:srgbClr val="203747"/>
                          </a:solidFill>
                          <a:latin typeface="DejaVu Sans"/>
                          <a:ea typeface="DejaVu Sans"/>
                          <a:cs typeface="DejaVu Sans"/>
                        </a:rPr>
                        <a:t>HTTP concurrency mode</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Goroutine implementation</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Real HTTP test asserts virtual thread</a:t>
                      </a:r>
                    </a:p>
                  </a:txBody>
                  <a:tcPr marL="91440" marR="91440" marT="45720" marB="45720">
                    <a:solidFill>
                      <a:srgbClr val="EAF1F4"/>
                    </a:solidFill>
                  </a:tcPr>
                </a:tc>
              </a:tr>
              <a:tr h="666750">
                <a:tc>
                  <a:txBody>
                    <a:bodyPr/>
                    <a:lstStyle/>
                    <a:p>
                      <a:r>
                        <a:rPr sz="1725" b="0">
                          <a:solidFill>
                            <a:srgbClr val="203747"/>
                          </a:solidFill>
                          <a:latin typeface="DejaVu Sans"/>
                          <a:ea typeface="DejaVu Sans"/>
                          <a:cs typeface="DejaVu Sans"/>
                        </a:rPr>
                        <a:t>Frontend checks</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14 tests, lint, format and build</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16 tests, lint and production build</a:t>
                      </a:r>
                    </a:p>
                  </a:txBody>
                  <a:tcPr marL="91440" marR="91440" marT="45720" marB="45720">
                    <a:solidFill>
                      <a:srgbClr val="FFFFFF"/>
                    </a:solidFill>
                  </a:tcPr>
                </a:tc>
              </a:tr>
              <a:tr h="666750">
                <a:tc>
                  <a:txBody>
                    <a:bodyPr/>
                    <a:lstStyle/>
                    <a:p>
                      <a:r>
                        <a:rPr sz="1725" b="0">
                          <a:solidFill>
                            <a:srgbClr val="203747"/>
                          </a:solidFill>
                          <a:latin typeface="DejaVu Sans"/>
                          <a:ea typeface="DejaVu Sans"/>
                          <a:cs typeface="DejaVu Sans"/>
                        </a:rPr>
                        <a:t>Database concurrency</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Integration suite compiles</a:t>
                      </a:r>
                    </a:p>
                  </a:txBody>
                  <a:tcPr marL="91440" marR="91440" marT="45720" marB="45720">
                    <a:solidFill>
                      <a:srgbClr val="EAF1F4"/>
                    </a:solidFill>
                  </a:tcPr>
                </a:tc>
                <a:tc>
                  <a:txBody>
                    <a:bodyPr/>
                    <a:lstStyle/>
                    <a:p>
                      <a:r>
                        <a:rPr sz="1725" b="0">
                          <a:solidFill>
                            <a:srgbClr val="203747"/>
                          </a:solidFill>
                          <a:latin typeface="DejaVu Sans"/>
                          <a:ea typeface="DejaVu Sans"/>
                          <a:cs typeface="DejaVu Sans"/>
                        </a:rPr>
                        <a:t>Integration test needs Docker</a:t>
                      </a:r>
                    </a:p>
                  </a:txBody>
                  <a:tcPr marL="91440" marR="91440" marT="45720" marB="45720">
                    <a:solidFill>
                      <a:srgbClr val="EAF1F4"/>
                    </a:solidFill>
                  </a:tcPr>
                </a:tc>
              </a:tr>
              <a:tr h="666750">
                <a:tc>
                  <a:txBody>
                    <a:bodyPr/>
                    <a:lstStyle/>
                    <a:p>
                      <a:r>
                        <a:rPr sz="1725" b="0">
                          <a:solidFill>
                            <a:srgbClr val="203747"/>
                          </a:solidFill>
                          <a:latin typeface="DejaVu Sans"/>
                          <a:ea typeface="DejaVu Sans"/>
                          <a:cs typeface="DejaVu Sans"/>
                        </a:rPr>
                        <a:t>Live Kafka and Kubernetes</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Checks require a Docker/cluster host</a:t>
                      </a:r>
                    </a:p>
                  </a:txBody>
                  <a:tcPr marL="91440" marR="91440" marT="45720" marB="45720">
                    <a:solidFill>
                      <a:srgbClr val="FFFFFF"/>
                    </a:solidFill>
                  </a:tcPr>
                </a:tc>
                <a:tc>
                  <a:txBody>
                    <a:bodyPr/>
                    <a:lstStyle/>
                    <a:p>
                      <a:r>
                        <a:rPr sz="1725" b="0">
                          <a:solidFill>
                            <a:srgbClr val="203747"/>
                          </a:solidFill>
                          <a:latin typeface="DejaVu Sans"/>
                          <a:ea typeface="DejaVu Sans"/>
                          <a:cs typeface="DejaVu Sans"/>
                        </a:rPr>
                        <a:t>Checks require a Docker/cluster host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DE55F6D-AE21-4EE7-B5A1-6652C0875EF7}"/>
              </a:ext>
            </a:extLst>
          </p:cNvPr>
          <p:cNvSpPr>
            <a:spLocks xmlns:a="http://schemas.openxmlformats.org/drawingml/2006/main" noGrp="1"/>
          </p:cNvSpPr>
          <p:nvPr/>
        </p:nvSpPr>
        <p:spPr>
          <a:xfrm xmlns:a="http://schemas.openxmlformats.org/drawingml/2006/main">
            <a:off x="609600" y="5648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2616F"/>
                </a:solidFill>
                <a:latin typeface="DejaVu Sans"/>
                <a:ea typeface="DejaVu Sans"/>
                <a:cs typeface="DejaVu Sans"/>
              </a:defRPr>
            </a:defPPr>
          </a:lstStyle>
          <a:p xmlns:a="http://schemas.openxmlformats.org/drawingml/2006/main">
            <a:pPr>
              <a:buNone/>
              <a:defRPr sz="1875" b="0">
                <a:solidFill>
                  <a:srgbClr val="42616F"/>
                </a:solidFill>
                <a:latin typeface="DejaVu Sans"/>
                <a:ea typeface="DejaVu Sans"/>
                <a:cs typeface="DejaVu Sans"/>
              </a:defRPr>
            </a:pPr>
            <a:r>
              <a:rPr sz="1875" b="0">
                <a:solidFill>
                  <a:srgbClr val="42616F"/>
                </a:solidFill>
                <a:latin typeface="DejaVu Sans"/>
                <a:ea typeface="DejaVu Sans"/>
                <a:cs typeface="DejaVu Sans"/>
              </a:rPr>
              <a:t>Run the database integration test and full Compose smoke test</a:t>
            </a:r>
          </a:p>
          <a:p xmlns:a="http://schemas.openxmlformats.org/drawingml/2006/main">
            <a:pPr>
              <a:buNone/>
              <a:defRPr sz="1875" b="0">
                <a:solidFill>
                  <a:srgbClr val="42616F"/>
                </a:solidFill>
                <a:latin typeface="DejaVu Sans"/>
                <a:ea typeface="DejaVu Sans"/>
                <a:cs typeface="DejaVu Sans"/>
              </a:defRPr>
            </a:pPr>
            <a:r>
              <a:rPr sz="1875" b="0">
                <a:solidFill>
                  <a:srgbClr val="42616F"/>
                </a:solidFill>
                <a:latin typeface="DejaVu Sans"/>
                <a:ea typeface="DejaVu Sans"/>
                <a:cs typeface="DejaVu Sans"/>
              </a:rPr>
              <a:t>before claiming verified end-to-end recovery or concurrency.</a:t>
            </a:r>
          </a:p>
        </p:txBody>
      </p:sp>
    </p:spTree>
    <p:extLst>
      <p:ext uri="{BB962C8B-B14F-4D97-AF65-F5344CB8AC3E}">
        <p14:creationId xmlns:p14="http://schemas.microsoft.com/office/powerpoint/2010/main" val="945358018"/>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FCD7C6-A065-4123-ABB5-8D625F8AFB28}"/>
              </a:ext>
            </a:extLst>
          </p:cNvPr>
          <p:cNvSpPr>
            <a:spLocks xmlns:a="http://schemas.openxmlformats.org/drawingml/2006/main" noGrp="1"/>
          </p:cNvSpPr>
          <p:nvPr/>
        </p:nvSpPr>
        <p:spPr>
          <a:xfrm xmlns:a="http://schemas.openxmlformats.org/drawingml/2006/main">
            <a:off x="609600" y="4191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12B3A"/>
                </a:solidFill>
                <a:latin typeface="DejaVu Sans"/>
                <a:ea typeface="DejaVu Sans"/>
                <a:cs typeface="DejaVu Sans"/>
              </a:defRPr>
            </a:defPPr>
          </a:lstStyle>
          <a:p xmlns:a="http://schemas.openxmlformats.org/drawingml/2006/main">
            <a:pPr>
              <a:buNone/>
              <a:defRPr sz="3300" b="1">
                <a:solidFill>
                  <a:srgbClr val="112B3A"/>
                </a:solidFill>
                <a:latin typeface="DejaVu Sans"/>
                <a:ea typeface="DejaVu Sans"/>
                <a:cs typeface="DejaVu Sans"/>
              </a:defRPr>
            </a:pPr>
            <a:r>
              <a:rPr sz="3300" b="1">
                <a:solidFill>
                  <a:srgbClr val="112B3A"/>
                </a:solidFill>
                <a:latin typeface="DejaVu Sans"/>
                <a:ea typeface="DejaVu Sans"/>
                <a:cs typeface="DejaVu Sans"/>
              </a:rPr>
              <a:t>Demo run and next client decisions</a:t>
            </a:r>
          </a:p>
        </p:txBody>
      </p:sp>
      <p:sp>
        <p:nvSpPr>
          <p:cNvPr id="2" name="">
            <a:extLst xmlns:a="http://schemas.openxmlformats.org/drawingml/2006/main">
              <a:ext uri="{FF2B5EF4-FFF2-40B4-BE49-F238E27FC236}">
                <a16:creationId xmlns:a16="http://schemas.microsoft.com/office/drawing/2014/main" id="{00E45310-D7B1-4749-B0FE-F64B7A3FD684}"/>
              </a:ext>
            </a:extLst>
          </p:cNvPr>
          <p:cNvSpPr>
            <a:spLocks xmlns:a="http://schemas.openxmlformats.org/drawingml/2006/main" noGrp="1"/>
          </p:cNvSpPr>
          <p:nvPr/>
        </p:nvSpPr>
        <p:spPr>
          <a:xfrm xmlns:a="http://schemas.openxmlformats.org/drawingml/2006/main">
            <a:off x="609600" y="63912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ABYSS APPLIED</a:t>
            </a:r>
          </a:p>
        </p:txBody>
      </p:sp>
      <p:sp>
        <p:nvSpPr>
          <p:cNvPr id="3" name="">
            <a:extLst xmlns:a="http://schemas.openxmlformats.org/drawingml/2006/main">
              <a:ext uri="{FF2B5EF4-FFF2-40B4-BE49-F238E27FC236}">
                <a16:creationId xmlns:a16="http://schemas.microsoft.com/office/drawing/2014/main" id="{3849DF62-40AE-40C7-94DE-0867AD7CB74B}"/>
              </a:ext>
            </a:extLst>
          </p:cNvPr>
          <p:cNvSpPr>
            <a:spLocks xmlns:a="http://schemas.openxmlformats.org/drawingml/2006/main" noGrp="1"/>
          </p:cNvSpPr>
          <p:nvPr/>
        </p:nvSpPr>
        <p:spPr>
          <a:xfrm xmlns:a="http://schemas.openxmlformats.org/drawingml/2006/main">
            <a:off x="10972800" y="63912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2616F"/>
                </a:solidFill>
                <a:latin typeface="DejaVu Sans"/>
                <a:ea typeface="DejaVu Sans"/>
                <a:cs typeface="DejaVu Sans"/>
              </a:defRPr>
            </a:defPPr>
          </a:lstStyle>
          <a:p xmlns:a="http://schemas.openxmlformats.org/drawingml/2006/main">
            <a:pPr>
              <a:buNone/>
              <a:defRPr sz="1200" b="0">
                <a:solidFill>
                  <a:srgbClr val="42616F"/>
                </a:solidFill>
                <a:latin typeface="DejaVu Sans"/>
                <a:ea typeface="DejaVu Sans"/>
                <a:cs typeface="DejaVu Sans"/>
              </a:defRPr>
            </a:pPr>
            <a:r>
              <a:rPr sz="1200" b="0">
                <a:solidFill>
                  <a:srgbClr val="42616F"/>
                </a:solidFill>
                <a:latin typeface="DejaVu Sans"/>
                <a:ea typeface="DejaVu Sans"/>
                <a:cs typeface="DejaVu Sans"/>
              </a:rPr>
              <a:t>9</a:t>
            </a:r>
          </a:p>
        </p:txBody>
      </p:sp>
      <p:sp>
        <p:nvSpPr>
          <p:cNvPr id="4" name="">
            <a:extLst xmlns:a="http://schemas.openxmlformats.org/drawingml/2006/main">
              <a:ext uri="{FF2B5EF4-FFF2-40B4-BE49-F238E27FC236}">
                <a16:creationId xmlns:a16="http://schemas.microsoft.com/office/drawing/2014/main" id="{B070D7C5-7764-46D1-867D-A63812417ED8}"/>
              </a:ext>
            </a:extLst>
          </p:cNvPr>
          <p:cNvSpPr>
            <a:spLocks xmlns:a="http://schemas.openxmlformats.org/drawingml/2006/main" noGrp="1"/>
          </p:cNvSpPr>
          <p:nvPr/>
        </p:nvSpPr>
        <p:spPr>
          <a:xfrm xmlns:a="http://schemas.openxmlformats.org/drawingml/2006/main">
            <a:off x="609600" y="150495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2B3A"/>
                </a:solidFill>
                <a:latin typeface="DejaVu Sans"/>
                <a:ea typeface="DejaVu Sans"/>
                <a:cs typeface="DejaVu Sans"/>
              </a:defRPr>
            </a:defPPr>
          </a:lstStyle>
          <a:p xmlns:a="http://schemas.openxmlformats.org/drawingml/2006/main">
            <a:pPr>
              <a:buNone/>
              <a:defRPr sz="2325" b="1">
                <a:solidFill>
                  <a:srgbClr val="112B3A"/>
                </a:solidFill>
                <a:latin typeface="DejaVu Sans"/>
                <a:ea typeface="DejaVu Sans"/>
                <a:cs typeface="DejaVu Sans"/>
              </a:defRPr>
            </a:pPr>
            <a:r>
              <a:rPr sz="2325" b="1">
                <a:solidFill>
                  <a:srgbClr val="112B3A"/>
                </a:solidFill>
                <a:latin typeface="DejaVu Sans"/>
                <a:ea typeface="DejaVu Sans"/>
                <a:cs typeface="DejaVu Sans"/>
              </a:rPr>
              <a:t>Run either edition</a:t>
            </a:r>
          </a:p>
        </p:txBody>
      </p:sp>
      <p:sp>
        <p:nvSpPr>
          <p:cNvPr id="5" name="">
            <a:extLst xmlns:a="http://schemas.openxmlformats.org/drawingml/2006/main">
              <a:ext uri="{FF2B5EF4-FFF2-40B4-BE49-F238E27FC236}">
                <a16:creationId xmlns:a16="http://schemas.microsoft.com/office/drawing/2014/main" id="{9AA73C16-954E-4489-9DF4-A3D100C8051A}"/>
              </a:ext>
            </a:extLst>
          </p:cNvPr>
          <p:cNvSpPr>
            <a:spLocks xmlns:a="http://schemas.openxmlformats.org/drawingml/2006/main" noGrp="1"/>
          </p:cNvSpPr>
          <p:nvPr/>
        </p:nvSpPr>
        <p:spPr>
          <a:xfrm xmlns:a="http://schemas.openxmlformats.org/drawingml/2006/main">
            <a:off x="609600" y="20383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03747"/>
                </a:solidFill>
                <a:latin typeface="DejaVu Sans"/>
                <a:ea typeface="DejaVu Sans"/>
                <a:cs typeface="DejaVu Sans"/>
              </a:defRPr>
            </a:defPPr>
          </a:lstStyle>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Stop the old demo with docker compose down in its directory.</a:t>
            </a:r>
          </a:p>
          <a:p xmlns:a="http://schemas.openxmlformats.org/drawingml/2006/main">
            <a:pPr>
              <a:buNone/>
              <a:defRPr sz="1950" b="0">
                <a:solidFill>
                  <a:srgbClr val="203747"/>
                </a:solidFill>
                <a:latin typeface="DejaVu Sans"/>
                <a:ea typeface="DejaVu Sans"/>
                <a:cs typeface="DejaVu Sans"/>
              </a:defRPr>
            </a:pPr>
            <a:r>
              <a:rPr sz="1950" b="0">
                <a:solidFill>
                  <a:srgbClr val="203747"/>
                </a:solidFill>
                <a:latin typeface="DejaVu Sans"/>
                <a:ea typeface="DejaVu Sans"/>
                <a:cs typeface="DejaVu Sans"/>
              </a:rPr>
              <a:t>Java: use trade-demo-java-events, run ./demo, then use its .env token.</a:t>
            </a:r>
          </a:p>
        </p:txBody>
      </p:sp>
      <p:graphicFrame>
        <p:nvGraphicFramePr>
          <p:cNvPr id="6" name="">
            <a:extLst xmlns:a="http://schemas.openxmlformats.org/drawingml/2006/main">
              <a:ext uri="{FF2B5EF4-FFF2-40B4-BE49-F238E27FC236}">
                <a16:creationId xmlns:a16="http://schemas.microsoft.com/office/drawing/2014/main" id="{CE962ED9-EC07-429D-B728-EAA95195D163}"/>
              </a:ext>
            </a:extLst>
          </p:cNvPr>
          <p:cNvGraphicFramePr/>
          <p:nvPr/>
        </p:nvGraphicFramePr>
        <p:xfrm>
          <a:off xmlns:a="http://schemas.openxmlformats.org/drawingml/2006/main" x="609600" y="3133725"/>
          <a:ext xmlns:a="http://schemas.openxmlformats.org/drawingml/2006/main" cx="10972800" cy="1190625"/>
        </p:xfrm>
        <a:graphic xmlns:a="http://schemas.openxmlformats.org/drawingml/2006/main">
          <a:graphicData uri="http://schemas.openxmlformats.org/drawingml/2006/table">
            <a:tbl>
              <a:tblPr/>
              <a:tblGrid>
                <a:gridCol w="3381375"/>
                <a:gridCol w="4210050"/>
                <a:gridCol w="3381375"/>
              </a:tblGrid>
              <a:tr h="595313">
                <a:tc>
                  <a:txBody>
                    <a:bodyPr/>
                    <a:lstStyle/>
                    <a:p>
                      <a:r>
                        <a:rPr sz="1800" b="1">
                          <a:solidFill>
                            <a:srgbClr val="FFFFFF"/>
                          </a:solidFill>
                          <a:latin typeface="DejaVu Sans"/>
                          <a:ea typeface="DejaVu Sans"/>
                          <a:cs typeface="DejaVu Sans"/>
                        </a:rPr>
                        <a:t>Portal</a:t>
                      </a:r>
                    </a:p>
                  </a:txBody>
                  <a:tcPr marL="91440" marR="91440" marT="45720" marB="45720">
                    <a:solidFill>
                      <a:srgbClr val="112B3A"/>
                    </a:solidFill>
                  </a:tcPr>
                </a:tc>
                <a:tc>
                  <a:txBody>
                    <a:bodyPr/>
                    <a:lstStyle/>
                    <a:p>
                      <a:r>
                        <a:rPr sz="1800" b="1">
                          <a:solidFill>
                            <a:srgbClr val="FFFFFF"/>
                          </a:solidFill>
                          <a:latin typeface="DejaVu Sans"/>
                          <a:ea typeface="DejaVu Sans"/>
                          <a:cs typeface="DejaVu Sans"/>
                        </a:rPr>
                        <a:t>API health</a:t>
                      </a:r>
                    </a:p>
                  </a:txBody>
                  <a:tcPr marL="91440" marR="91440" marT="45720" marB="45720">
                    <a:solidFill>
                      <a:srgbClr val="112B3A"/>
                    </a:solidFill>
                  </a:tcPr>
                </a:tc>
                <a:tc>
                  <a:txBody>
                    <a:bodyPr/>
                    <a:lstStyle/>
                    <a:p>
                      <a:r>
                        <a:rPr sz="1800" b="1">
                          <a:solidFill>
                            <a:srgbClr val="FFFFFF"/>
                          </a:solidFill>
                          <a:latin typeface="DejaVu Sans"/>
                          <a:ea typeface="DejaVu Sans"/>
                          <a:cs typeface="DejaVu Sans"/>
                        </a:rPr>
                        <a:t>OpenAPI docs</a:t>
                      </a:r>
                    </a:p>
                  </a:txBody>
                  <a:tcPr marL="91440" marR="91440" marT="45720" marB="45720">
                    <a:solidFill>
                      <a:srgbClr val="112B3A"/>
                    </a:solidFill>
                  </a:tcPr>
                </a:tc>
              </a:tr>
              <a:tr h="595313">
                <a:tc>
                  <a:txBody>
                    <a:bodyPr/>
                    <a:lstStyle/>
                    <a:p>
                      <a:r>
                        <a:rPr sz="1800" b="0">
                          <a:solidFill>
                            <a:srgbClr val="203747"/>
                          </a:solidFill>
                          <a:latin typeface="DejaVu Sans"/>
                          <a:ea typeface="DejaVu Sans"/>
                          <a:cs typeface="DejaVu Sans"/>
                        </a:rPr>
                        <a:t>localhost:13000</a:t>
                      </a:r>
                    </a:p>
                  </a:txBody>
                  <a:tcPr marL="91440" marR="91440" marT="45720" marB="45720">
                    <a:solidFill>
                      <a:srgbClr val="FFFFFF"/>
                    </a:solidFill>
                  </a:tcPr>
                </a:tc>
                <a:tc>
                  <a:txBody>
                    <a:bodyPr/>
                    <a:lstStyle/>
                    <a:p>
                      <a:r>
                        <a:rPr sz="1800" b="0">
                          <a:solidFill>
                            <a:srgbClr val="203747"/>
                          </a:solidFill>
                          <a:latin typeface="DejaVu Sans"/>
                          <a:ea typeface="DejaVu Sans"/>
                          <a:cs typeface="DejaVu Sans"/>
                        </a:rPr>
                        <a:t>localhost:18080/health</a:t>
                      </a:r>
                    </a:p>
                  </a:txBody>
                  <a:tcPr marL="91440" marR="91440" marT="45720" marB="45720">
                    <a:solidFill>
                      <a:srgbClr val="FFFFFF"/>
                    </a:solidFill>
                  </a:tcPr>
                </a:tc>
                <a:tc>
                  <a:txBody>
                    <a:bodyPr/>
                    <a:lstStyle/>
                    <a:p>
                      <a:r>
                        <a:rPr sz="1800" b="0">
                          <a:solidFill>
                            <a:srgbClr val="203747"/>
                          </a:solidFill>
                          <a:latin typeface="DejaVu Sans"/>
                          <a:ea typeface="DejaVu Sans"/>
                          <a:cs typeface="DejaVu Sans"/>
                        </a:rPr>
                        <a:t>localhost:18081</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7685595-650D-47BC-A41C-76C7DF740EE5}"/>
              </a:ext>
            </a:extLst>
          </p:cNvPr>
          <p:cNvSpPr>
            <a:spLocks xmlns:a="http://schemas.openxmlformats.org/drawingml/2006/main" noGrp="1"/>
          </p:cNvSpPr>
          <p:nvPr/>
        </p:nvSpPr>
        <p:spPr>
          <a:xfrm xmlns:a="http://schemas.openxmlformats.org/drawingml/2006/main">
            <a:off x="609600" y="46101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12B3A"/>
                </a:solidFill>
                <a:latin typeface="DejaVu Sans"/>
                <a:ea typeface="DejaVu Sans"/>
                <a:cs typeface="DejaVu Sans"/>
              </a:defRPr>
            </a:defPPr>
          </a:lstStyle>
          <a:p xmlns:a="http://schemas.openxmlformats.org/drawingml/2006/main">
            <a:pPr>
              <a:buNone/>
              <a:defRPr sz="2325" b="1">
                <a:solidFill>
                  <a:srgbClr val="112B3A"/>
                </a:solidFill>
                <a:latin typeface="DejaVu Sans"/>
                <a:ea typeface="DejaVu Sans"/>
                <a:cs typeface="DejaVu Sans"/>
              </a:defRPr>
            </a:pPr>
            <a:r>
              <a:rPr sz="2325" b="1">
                <a:solidFill>
                  <a:srgbClr val="112B3A"/>
                </a:solidFill>
                <a:latin typeface="DejaVu Sans"/>
                <a:ea typeface="DejaVu Sans"/>
                <a:cs typeface="DejaVu Sans"/>
              </a:rPr>
              <a:t>Questions that determine the production design</a:t>
            </a:r>
          </a:p>
        </p:txBody>
      </p:sp>
      <p:sp>
        <p:nvSpPr>
          <p:cNvPr id="8" name="">
            <a:extLst xmlns:a="http://schemas.openxmlformats.org/drawingml/2006/main">
              <a:ext uri="{FF2B5EF4-FFF2-40B4-BE49-F238E27FC236}">
                <a16:creationId xmlns:a16="http://schemas.microsoft.com/office/drawing/2014/main" id="{120FA968-1667-4F34-86C7-74535EFD10A4}"/>
              </a:ext>
            </a:extLst>
          </p:cNvPr>
          <p:cNvSpPr>
            <a:spLocks xmlns:a="http://schemas.openxmlformats.org/drawingml/2006/main" noGrp="1"/>
          </p:cNvSpPr>
          <p:nvPr/>
        </p:nvSpPr>
        <p:spPr>
          <a:xfrm xmlns:a="http://schemas.openxmlformats.org/drawingml/2006/main">
            <a:off x="609600" y="5219700"/>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03747"/>
                </a:solidFill>
                <a:latin typeface="DejaVu Sans"/>
                <a:ea typeface="DejaVu Sans"/>
                <a:cs typeface="DejaVu Sans"/>
              </a:defRPr>
            </a:defPPr>
          </a:lstStyle>
          <a:p xmlns:a="http://schemas.openxmlformats.org/drawingml/2006/main">
            <a:pPr>
              <a:buNone/>
              <a:defRPr sz="1875" b="0">
                <a:solidFill>
                  <a:srgbClr val="203747"/>
                </a:solidFill>
                <a:latin typeface="DejaVu Sans"/>
                <a:ea typeface="DejaVu Sans"/>
                <a:cs typeface="DejaVu Sans"/>
              </a:defRPr>
            </a:pPr>
            <a:r>
              <a:rPr sz="1875" b="0">
                <a:solidFill>
                  <a:srgbClr val="203747"/>
                </a:solidFill>
                <a:latin typeface="DejaVu Sans"/>
                <a:ea typeface="DejaVu Sans"/>
                <a:cs typeface="DejaVu Sans"/>
              </a:rPr>
              <a:t>What defines a duplicate, and when may users amend or resubmit?</a:t>
            </a:r>
          </a:p>
          <a:p xmlns:a="http://schemas.openxmlformats.org/drawingml/2006/main">
            <a:pPr>
              <a:buNone/>
              <a:defRPr sz="1875" b="0">
                <a:solidFill>
                  <a:srgbClr val="203747"/>
                </a:solidFill>
                <a:latin typeface="DejaVu Sans"/>
                <a:ea typeface="DejaVu Sans"/>
                <a:cs typeface="DejaVu Sans"/>
              </a:defRPr>
            </a:pPr>
            <a:r>
              <a:rPr sz="1875" b="0">
                <a:solidFill>
                  <a:srgbClr val="203747"/>
                </a:solidFill>
                <a:latin typeface="DejaVu Sans"/>
                <a:ea typeface="DejaVu Sans"/>
                <a:cs typeface="DejaVu Sans"/>
              </a:rPr>
              <a:t>Who may access a declaration, and which trade decisions are authoritative?</a:t>
            </a:r>
          </a:p>
          <a:p xmlns:a="http://schemas.openxmlformats.org/drawingml/2006/main">
            <a:pPr>
              <a:buNone/>
              <a:defRPr sz="1875" b="0">
                <a:solidFill>
                  <a:srgbClr val="203747"/>
                </a:solidFill>
                <a:latin typeface="DejaVu Sans"/>
                <a:ea typeface="DejaVu Sans"/>
                <a:cs typeface="DejaVu Sans"/>
              </a:defRPr>
            </a:pPr>
            <a:r>
              <a:rPr sz="1875" b="0">
                <a:solidFill>
                  <a:srgbClr val="203747"/>
                </a:solidFill>
                <a:latin typeface="DejaVu Sans"/>
                <a:ea typeface="DejaVu Sans"/>
                <a:cs typeface="DejaVu Sans"/>
              </a:rPr>
              <a:t>What volumes, recovery targets and deployment standards apply?</a:t>
            </a:r>
          </a:p>
        </p:txBody>
      </p:sp>
    </p:spTree>
    <p:extLst>
      <p:ext uri="{BB962C8B-B14F-4D97-AF65-F5344CB8AC3E}">
        <p14:creationId xmlns:p14="http://schemas.microsoft.com/office/powerpoint/2010/main" val="1150793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2026-10-09T13:37:45.7320000Z</dcterms:created>
  <dcterms:modified xsi:type="dcterms:W3CDTF">2026-10-09T13:37:45.7320000Z</dcterms:modified>
</coreProperties>
</file>